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8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94" r:id="rId4"/>
    <p:sldId id="295" r:id="rId5"/>
    <p:sldId id="296" r:id="rId6"/>
    <p:sldId id="297" r:id="rId7"/>
    <p:sldId id="317" r:id="rId8"/>
    <p:sldId id="298" r:id="rId9"/>
    <p:sldId id="288" r:id="rId10"/>
    <p:sldId id="291" r:id="rId11"/>
    <p:sldId id="293" r:id="rId12"/>
    <p:sldId id="292" r:id="rId13"/>
    <p:sldId id="299" r:id="rId14"/>
    <p:sldId id="310" r:id="rId15"/>
    <p:sldId id="309" r:id="rId16"/>
    <p:sldId id="286" r:id="rId17"/>
    <p:sldId id="322" r:id="rId18"/>
    <p:sldId id="306" r:id="rId19"/>
    <p:sldId id="326" r:id="rId20"/>
    <p:sldId id="312" r:id="rId21"/>
    <p:sldId id="323" r:id="rId22"/>
    <p:sldId id="313" r:id="rId23"/>
    <p:sldId id="327" r:id="rId24"/>
    <p:sldId id="314" r:id="rId25"/>
    <p:sldId id="324" r:id="rId26"/>
    <p:sldId id="300" r:id="rId27"/>
    <p:sldId id="304" r:id="rId28"/>
    <p:sldId id="315" r:id="rId29"/>
    <p:sldId id="319" r:id="rId30"/>
    <p:sldId id="320" r:id="rId31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94227-8841-466E-BA31-E40D9A2C7045}" v="727" dt="2026-01-07T12:46:37.5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0462C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688" y="633983"/>
            <a:ext cx="9863327" cy="59009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2640" y="-111429"/>
            <a:ext cx="512508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2570" y="1385442"/>
            <a:ext cx="11706859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0462C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Vinu</a:t>
            </a:r>
            <a:r>
              <a:rPr spc="-80" dirty="0"/>
              <a:t> </a:t>
            </a:r>
            <a:r>
              <a:rPr spc="-5" dirty="0"/>
              <a:t>Thomas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86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65055" y="777580"/>
            <a:ext cx="11706859" cy="3108620"/>
          </a:xfrm>
          <a:prstGeom prst="rect">
            <a:avLst/>
          </a:prstGeom>
        </p:spPr>
        <p:txBody>
          <a:bodyPr vert="horz" wrap="square" lIns="0" tIns="396316" rIns="0" bIns="0" rtlCol="0">
            <a:spAutoFit/>
          </a:bodyPr>
          <a:lstStyle/>
          <a:p>
            <a:pPr algn="ctr"/>
            <a:r>
              <a:rPr lang="en-US" sz="4400" u="none" spc="-310" noProof="0" dirty="0">
                <a:solidFill>
                  <a:srgbClr val="000000"/>
                </a:solidFill>
                <a:latin typeface="Trebuchet MS"/>
                <a:cs typeface="Trebuchet MS"/>
              </a:rPr>
              <a:t>Voltage Stability Analysis for Power System with Dynamic Load –</a:t>
            </a:r>
          </a:p>
          <a:p>
            <a:pPr algn="ctr"/>
            <a:r>
              <a:rPr lang="en-US" sz="4400" u="none" spc="-310" noProof="0" dirty="0">
                <a:solidFill>
                  <a:srgbClr val="000000"/>
                </a:solidFill>
                <a:latin typeface="Trebuchet MS"/>
                <a:cs typeface="Trebuchet MS"/>
              </a:rPr>
              <a:t>Part 2</a:t>
            </a:r>
            <a:r>
              <a:rPr lang="en-US" sz="4400" u="none" spc="-310" noProof="0" dirty="0">
                <a:solidFill>
                  <a:srgbClr val="000000"/>
                </a:solidFill>
                <a:latin typeface="Trebuchet MS"/>
              </a:rPr>
              <a:t>: </a:t>
            </a:r>
          </a:p>
          <a:p>
            <a:pPr algn="ctr"/>
            <a:r>
              <a:rPr lang="en-US" sz="4400" u="none" spc="-310" noProof="0" dirty="0">
                <a:solidFill>
                  <a:srgbClr val="000000"/>
                </a:solidFill>
                <a:latin typeface="Trebuchet MS"/>
              </a:rPr>
              <a:t>Simulation model of the entire power 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0911" y="4083179"/>
            <a:ext cx="2670175" cy="186910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>
                <a:latin typeface="Carlito"/>
                <a:cs typeface="Carlito"/>
              </a:rPr>
              <a:t>Group 5: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>
                <a:latin typeface="Carlito"/>
                <a:cs typeface="Carlito"/>
              </a:rPr>
              <a:t>Melanny Anaya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>
                <a:latin typeface="Carlito"/>
                <a:cs typeface="Carlito"/>
              </a:rPr>
              <a:t>Ahmed Hassan 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>
                <a:latin typeface="Carlito"/>
                <a:cs typeface="Carlito"/>
              </a:rPr>
              <a:t>Mohamed Emam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>
                <a:latin typeface="Carlito"/>
                <a:cs typeface="Carlito"/>
              </a:rPr>
              <a:t>Abdelrhman Rabea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lang="en-US" sz="1400" spc="-30" noProof="0" dirty="0" err="1">
                <a:latin typeface="Carlito"/>
                <a:cs typeface="Carlito"/>
              </a:rPr>
              <a:t>Sebghatullah</a:t>
            </a:r>
            <a:r>
              <a:rPr lang="en-US" sz="1400" spc="-30" noProof="0" dirty="0">
                <a:latin typeface="Carlito"/>
                <a:cs typeface="Carlito"/>
              </a:rPr>
              <a:t> Misbah</a:t>
            </a: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endParaRPr lang="en-US" sz="1400" spc="-30" noProof="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Considered power system</a:t>
            </a:r>
            <a:endParaRPr lang="en-US" spc="-185" noProof="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</a:t>
            </a:fld>
            <a:endParaRPr lang="en-US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7CE454-5B0D-1269-215F-53F188ED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43" y="1112305"/>
            <a:ext cx="9700386" cy="4633390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320C9EA2-6429-CDCA-BF82-8F5DF8A885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C37D-1689-5088-A051-0F3B96F6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8BFD3B-C907-50D4-BE34-0E5326778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29" noProof="0" dirty="0"/>
              <a:t>Generator</a:t>
            </a:r>
            <a:r>
              <a:rPr lang="en-US" spc="-450" noProof="0" dirty="0"/>
              <a:t> 1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F23BEED-1825-4056-2ACC-FA1889D7EED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C087C2A-D01D-B8B1-2672-4D455821B33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8CC01D-4BDA-7D00-1BE5-7713ACC356C6}"/>
              </a:ext>
            </a:extLst>
          </p:cNvPr>
          <p:cNvSpPr txBox="1"/>
          <p:nvPr/>
        </p:nvSpPr>
        <p:spPr>
          <a:xfrm>
            <a:off x="916635" y="972464"/>
            <a:ext cx="3102610" cy="203771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z="2800" b="1" spc="-10" noProof="0" dirty="0">
                <a:latin typeface="Calibri"/>
                <a:cs typeface="Calibri"/>
              </a:rPr>
              <a:t>Infinite</a:t>
            </a:r>
            <a:r>
              <a:rPr lang="en-US" sz="2800" b="1" spc="-105" noProof="0" dirty="0">
                <a:latin typeface="Calibri"/>
                <a:cs typeface="Calibri"/>
              </a:rPr>
              <a:t> </a:t>
            </a:r>
            <a:r>
              <a:rPr lang="en-US" sz="2800" b="1" spc="-20" noProof="0" dirty="0">
                <a:latin typeface="Calibri"/>
                <a:cs typeface="Calibri"/>
              </a:rPr>
              <a:t>bus.</a:t>
            </a:r>
            <a:endParaRPr lang="en-US" sz="28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800" spc="-10" noProof="0" dirty="0" err="1">
                <a:latin typeface="Calibri"/>
                <a:cs typeface="Calibri"/>
              </a:rPr>
              <a:t>Asumption</a:t>
            </a:r>
            <a:r>
              <a:rPr lang="en-US" sz="2800" spc="-10" noProof="0" dirty="0">
                <a:latin typeface="Calibri"/>
                <a:cs typeface="Calibri"/>
              </a:rPr>
              <a:t>:</a:t>
            </a:r>
            <a:r>
              <a:rPr lang="en-US" sz="2800" spc="-35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V</a:t>
            </a:r>
            <a:r>
              <a:rPr lang="en-US" sz="2800" spc="-8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=</a:t>
            </a:r>
            <a:r>
              <a:rPr lang="en-US" sz="2800" spc="-6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24</a:t>
            </a:r>
            <a:r>
              <a:rPr lang="en-US" sz="2800" spc="-65" noProof="0" dirty="0">
                <a:latin typeface="Calibri"/>
                <a:cs typeface="Calibri"/>
              </a:rPr>
              <a:t> </a:t>
            </a:r>
            <a:r>
              <a:rPr lang="en-US" sz="2800" spc="-25" noProof="0" dirty="0">
                <a:latin typeface="Calibri"/>
                <a:cs typeface="Calibri"/>
              </a:rPr>
              <a:t>kV</a:t>
            </a:r>
            <a:endParaRPr lang="en-US" sz="2800" noProof="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lang="en-US" sz="28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800" b="1" spc="-10" noProof="0" dirty="0" err="1">
                <a:latin typeface="Calibri"/>
                <a:cs typeface="Calibri"/>
              </a:rPr>
              <a:t>Simscape</a:t>
            </a:r>
            <a:r>
              <a:rPr lang="en-US" sz="2800" b="1" spc="-85" noProof="0" dirty="0">
                <a:latin typeface="Calibri"/>
                <a:cs typeface="Calibri"/>
              </a:rPr>
              <a:t> </a:t>
            </a:r>
            <a:r>
              <a:rPr lang="en-US" sz="2800" b="1" spc="-10" noProof="0" dirty="0">
                <a:latin typeface="Calibri"/>
                <a:cs typeface="Calibri"/>
              </a:rPr>
              <a:t>block:</a:t>
            </a:r>
            <a:endParaRPr lang="en-US" sz="2800" noProof="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9764383-8115-2DEC-BAF8-9E1BA8B262A9}"/>
              </a:ext>
            </a:extLst>
          </p:cNvPr>
          <p:cNvGrpSpPr/>
          <p:nvPr/>
        </p:nvGrpSpPr>
        <p:grpSpPr>
          <a:xfrm>
            <a:off x="4495800" y="214986"/>
            <a:ext cx="7527925" cy="5500370"/>
            <a:chOff x="4267200" y="215011"/>
            <a:chExt cx="7527925" cy="550037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B9338B69-CD8B-03CF-9476-3C75191FF7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904BAD61-A8B4-C7E9-060C-60516193690D}"/>
                </a:ext>
              </a:extLst>
            </p:cNvPr>
            <p:cNvSpPr/>
            <p:nvPr/>
          </p:nvSpPr>
          <p:spPr>
            <a:xfrm>
              <a:off x="8982075" y="570102"/>
              <a:ext cx="347980" cy="240029"/>
            </a:xfrm>
            <a:custGeom>
              <a:avLst/>
              <a:gdLst/>
              <a:ahLst/>
              <a:cxnLst/>
              <a:rect l="l" t="t" r="r" b="b"/>
              <a:pathLst>
                <a:path w="347979" h="240029">
                  <a:moveTo>
                    <a:pt x="347459" y="0"/>
                  </a:moveTo>
                  <a:lnTo>
                    <a:pt x="0" y="0"/>
                  </a:lnTo>
                  <a:lnTo>
                    <a:pt x="0" y="239775"/>
                  </a:lnTo>
                  <a:lnTo>
                    <a:pt x="347459" y="239775"/>
                  </a:lnTo>
                  <a:lnTo>
                    <a:pt x="347459" y="0"/>
                  </a:lnTo>
                  <a:close/>
                </a:path>
              </a:pathLst>
            </a:custGeom>
            <a:solidFill>
              <a:srgbClr val="4AACC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E0F51B36-669C-2034-2B16-56A624F600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00" y="1345183"/>
              <a:ext cx="4800600" cy="4369816"/>
            </a:xfrm>
            <a:prstGeom prst="rect">
              <a:avLst/>
            </a:prstGeom>
          </p:spPr>
        </p:pic>
      </p:grpSp>
      <p:pic>
        <p:nvPicPr>
          <p:cNvPr id="12" name="Imagen 11" descr="Diagrama&#10;&#10;El contenido generado por IA puede ser incorrecto.">
            <a:extLst>
              <a:ext uri="{FF2B5EF4-FFF2-40B4-BE49-F238E27FC236}">
                <a16:creationId xmlns:a16="http://schemas.microsoft.com/office/drawing/2014/main" id="{83722464-2541-8809-CED1-42670532F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35" y="3189326"/>
            <a:ext cx="2572109" cy="2295845"/>
          </a:xfrm>
          <a:prstGeom prst="rect">
            <a:avLst/>
          </a:prstGeom>
        </p:spPr>
      </p:pic>
      <p:pic>
        <p:nvPicPr>
          <p:cNvPr id="14" name="Imagen 1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97DAA9D-BBE1-BF83-CB62-57BCEDBCC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806" y="1345184"/>
            <a:ext cx="4892295" cy="436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7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9F3F-702A-DEC1-10CE-2B0D3748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92D90E-9AFF-8DD0-099C-30C12501EB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29" noProof="0" dirty="0"/>
              <a:t>Generators</a:t>
            </a:r>
            <a:r>
              <a:rPr lang="en-US" spc="-505" noProof="0" dirty="0"/>
              <a:t> </a:t>
            </a:r>
            <a:r>
              <a:rPr lang="en-US" spc="-30" noProof="0" dirty="0"/>
              <a:t>2</a:t>
            </a:r>
            <a:r>
              <a:rPr lang="en-US" spc="-465" noProof="0" dirty="0"/>
              <a:t> </a:t>
            </a:r>
            <a:r>
              <a:rPr lang="en-US" spc="-160" noProof="0" dirty="0"/>
              <a:t>and</a:t>
            </a:r>
            <a:r>
              <a:rPr lang="en-US" spc="-490" noProof="0" dirty="0"/>
              <a:t> </a:t>
            </a:r>
            <a:r>
              <a:rPr lang="en-US" spc="-50" noProof="0" dirty="0"/>
              <a:t>3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EC594B-E8D5-CDFB-D276-B66C97095F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9654994-A3ED-C89E-119F-3B31DF493F4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DA2B238-4676-F961-FB0F-F9CAE3B105F5}"/>
              </a:ext>
            </a:extLst>
          </p:cNvPr>
          <p:cNvSpPr txBox="1"/>
          <p:nvPr/>
        </p:nvSpPr>
        <p:spPr>
          <a:xfrm>
            <a:off x="916635" y="1052321"/>
            <a:ext cx="79355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spc="-20" noProof="0" dirty="0">
                <a:latin typeface="Calibri"/>
                <a:cs typeface="Calibri"/>
              </a:rPr>
              <a:t>Synchronous</a:t>
            </a:r>
            <a:r>
              <a:rPr lang="en-US" sz="2400" spc="-75" noProof="0" dirty="0">
                <a:latin typeface="Calibri"/>
                <a:cs typeface="Calibri"/>
              </a:rPr>
              <a:t> </a:t>
            </a:r>
            <a:r>
              <a:rPr lang="en-US" sz="2400" spc="-10" noProof="0" dirty="0">
                <a:latin typeface="Calibri"/>
                <a:cs typeface="Calibri"/>
              </a:rPr>
              <a:t>machines</a:t>
            </a:r>
            <a:r>
              <a:rPr lang="en-US" sz="2400" spc="-80" noProof="0" dirty="0">
                <a:latin typeface="Calibri"/>
                <a:cs typeface="Calibri"/>
              </a:rPr>
              <a:t> </a:t>
            </a:r>
            <a:r>
              <a:rPr lang="en-US" sz="2400" noProof="0" dirty="0" err="1">
                <a:latin typeface="Calibri"/>
                <a:cs typeface="Calibri"/>
              </a:rPr>
              <a:t>pu</a:t>
            </a:r>
            <a:r>
              <a:rPr lang="en-US" sz="2400" spc="-75" noProof="0" dirty="0">
                <a:latin typeface="Calibri"/>
                <a:cs typeface="Calibri"/>
              </a:rPr>
              <a:t> </a:t>
            </a:r>
            <a:r>
              <a:rPr lang="en-US" sz="2400" spc="-20" noProof="0" dirty="0">
                <a:latin typeface="Calibri"/>
                <a:cs typeface="Calibri"/>
              </a:rPr>
              <a:t>Standard</a:t>
            </a:r>
            <a:r>
              <a:rPr lang="en-US" sz="2400" spc="-6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block</a:t>
            </a:r>
            <a:r>
              <a:rPr lang="en-US" sz="2400" spc="-7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was</a:t>
            </a:r>
            <a:r>
              <a:rPr lang="en-US" sz="2400" spc="-75" noProof="0" dirty="0">
                <a:latin typeface="Calibri"/>
                <a:cs typeface="Calibri"/>
              </a:rPr>
              <a:t> </a:t>
            </a:r>
            <a:r>
              <a:rPr lang="en-US" sz="2400" spc="-10" noProof="0" dirty="0">
                <a:latin typeface="Calibri"/>
                <a:cs typeface="Calibri"/>
              </a:rPr>
              <a:t>chosen</a:t>
            </a:r>
            <a:r>
              <a:rPr lang="en-US" sz="2400" spc="-8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due</a:t>
            </a:r>
            <a:r>
              <a:rPr lang="en-US" sz="2400" spc="-6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to</a:t>
            </a:r>
            <a:r>
              <a:rPr lang="en-US" sz="2400" spc="-70" noProof="0" dirty="0">
                <a:latin typeface="Calibri"/>
                <a:cs typeface="Calibri"/>
              </a:rPr>
              <a:t> </a:t>
            </a:r>
            <a:r>
              <a:rPr lang="en-US" sz="2400" spc="-25" noProof="0" dirty="0">
                <a:latin typeface="Calibri"/>
                <a:cs typeface="Calibri"/>
              </a:rPr>
              <a:t>the </a:t>
            </a:r>
            <a:r>
              <a:rPr lang="en-US" sz="2400" noProof="0" dirty="0">
                <a:latin typeface="Calibri"/>
                <a:cs typeface="Calibri"/>
              </a:rPr>
              <a:t>values</a:t>
            </a:r>
            <a:r>
              <a:rPr lang="en-US" sz="2400" spc="229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already</a:t>
            </a:r>
            <a:r>
              <a:rPr lang="en-US" sz="2400" spc="23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given.</a:t>
            </a:r>
            <a:r>
              <a:rPr lang="en-US" sz="2400" spc="22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Only</a:t>
            </a:r>
            <a:r>
              <a:rPr lang="en-US" sz="2400" spc="24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the</a:t>
            </a:r>
            <a:r>
              <a:rPr lang="en-US" sz="2400" spc="24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Inertia</a:t>
            </a:r>
            <a:r>
              <a:rPr lang="en-US" sz="2400" spc="23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Constant</a:t>
            </a:r>
            <a:r>
              <a:rPr lang="en-US" sz="2400" spc="22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(H)</a:t>
            </a:r>
            <a:r>
              <a:rPr lang="en-US" sz="2400" spc="24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and</a:t>
            </a:r>
            <a:r>
              <a:rPr lang="en-US" sz="2400" spc="245" noProof="0" dirty="0">
                <a:latin typeface="Calibri"/>
                <a:cs typeface="Calibri"/>
              </a:rPr>
              <a:t> </a:t>
            </a:r>
            <a:r>
              <a:rPr lang="en-US" sz="2400" spc="-10" noProof="0" dirty="0">
                <a:latin typeface="Calibri"/>
                <a:cs typeface="Calibri"/>
              </a:rPr>
              <a:t>Active </a:t>
            </a:r>
            <a:r>
              <a:rPr lang="en-US" sz="2400" noProof="0" dirty="0">
                <a:latin typeface="Calibri"/>
                <a:cs typeface="Calibri"/>
              </a:rPr>
              <a:t>Power</a:t>
            </a:r>
            <a:r>
              <a:rPr lang="en-US" sz="2400" spc="-1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(P)</a:t>
            </a:r>
            <a:r>
              <a:rPr lang="en-US" sz="2400" spc="-1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differ</a:t>
            </a:r>
            <a:r>
              <a:rPr lang="en-US" sz="2400" spc="-1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between</a:t>
            </a:r>
            <a:r>
              <a:rPr lang="en-US" sz="2400" spc="-2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G1</a:t>
            </a:r>
            <a:r>
              <a:rPr lang="en-US" sz="2400" spc="-2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and</a:t>
            </a:r>
            <a:r>
              <a:rPr lang="en-US" sz="2400" spc="-1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G2;</a:t>
            </a:r>
            <a:r>
              <a:rPr lang="en-US" sz="2400" spc="-1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all</a:t>
            </a:r>
            <a:r>
              <a:rPr lang="en-US" sz="2400" spc="-1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other</a:t>
            </a:r>
            <a:r>
              <a:rPr lang="en-US" sz="2400" spc="-1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settings</a:t>
            </a:r>
            <a:r>
              <a:rPr lang="en-US" sz="2400" spc="-2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were</a:t>
            </a:r>
            <a:r>
              <a:rPr lang="en-US" sz="2400" spc="-15" noProof="0" dirty="0">
                <a:latin typeface="Calibri"/>
                <a:cs typeface="Calibri"/>
              </a:rPr>
              <a:t> </a:t>
            </a:r>
            <a:r>
              <a:rPr lang="en-US" sz="2400" spc="-20" noProof="0" dirty="0">
                <a:latin typeface="Calibri"/>
                <a:cs typeface="Calibri"/>
              </a:rPr>
              <a:t>left </a:t>
            </a:r>
            <a:r>
              <a:rPr lang="en-US" sz="2400" noProof="0" dirty="0">
                <a:latin typeface="Calibri"/>
                <a:cs typeface="Calibri"/>
              </a:rPr>
              <a:t>at</a:t>
            </a:r>
            <a:r>
              <a:rPr lang="en-US" sz="2400" spc="-65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their</a:t>
            </a:r>
            <a:r>
              <a:rPr lang="en-US" sz="2400" spc="-50" noProof="0" dirty="0">
                <a:latin typeface="Calibri"/>
                <a:cs typeface="Calibri"/>
              </a:rPr>
              <a:t> </a:t>
            </a:r>
            <a:r>
              <a:rPr lang="en-US" sz="2400" noProof="0" dirty="0">
                <a:latin typeface="Calibri"/>
                <a:cs typeface="Calibri"/>
              </a:rPr>
              <a:t>default</a:t>
            </a:r>
            <a:r>
              <a:rPr lang="en-US" sz="2400" spc="-50" noProof="0" dirty="0">
                <a:latin typeface="Calibri"/>
                <a:cs typeface="Calibri"/>
              </a:rPr>
              <a:t> </a:t>
            </a:r>
            <a:r>
              <a:rPr lang="en-US" sz="2400" spc="-10" noProof="0" dirty="0">
                <a:latin typeface="Calibri"/>
                <a:cs typeface="Calibri"/>
              </a:rPr>
              <a:t>values.</a:t>
            </a:r>
            <a:endParaRPr lang="en-US" sz="2400" noProof="0" dirty="0">
              <a:latin typeface="Calibri"/>
              <a:cs typeface="Calibri"/>
            </a:endParaRPr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E370AE13-8A79-38EC-1D9D-743DA908607A}"/>
              </a:ext>
            </a:extLst>
          </p:cNvPr>
          <p:cNvGrpSpPr/>
          <p:nvPr/>
        </p:nvGrpSpPr>
        <p:grpSpPr>
          <a:xfrm>
            <a:off x="8975725" y="215011"/>
            <a:ext cx="2819400" cy="1346835"/>
            <a:chOff x="8975725" y="215011"/>
            <a:chExt cx="2819400" cy="134683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0F453054-F83F-D2CE-A928-32BC2E20F9C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8F2EDDC5-FB54-0CF0-4086-EA73C4EAF152}"/>
                </a:ext>
              </a:extLst>
            </p:cNvPr>
            <p:cNvSpPr/>
            <p:nvPr/>
          </p:nvSpPr>
          <p:spPr>
            <a:xfrm>
              <a:off x="9296400" y="971791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63A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04D35EA8-4685-0F5E-8BDF-B4B0D953555C}"/>
                </a:ext>
              </a:extLst>
            </p:cNvPr>
            <p:cNvSpPr/>
            <p:nvPr/>
          </p:nvSpPr>
          <p:spPr>
            <a:xfrm>
              <a:off x="10879835" y="34491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grpSp>
        <p:nvGrpSpPr>
          <p:cNvPr id="16" name="object 8">
            <a:extLst>
              <a:ext uri="{FF2B5EF4-FFF2-40B4-BE49-F238E27FC236}">
                <a16:creationId xmlns:a16="http://schemas.microsoft.com/office/drawing/2014/main" id="{470F14E0-6F90-B35C-52DD-4E71528961AC}"/>
              </a:ext>
            </a:extLst>
          </p:cNvPr>
          <p:cNvGrpSpPr/>
          <p:nvPr/>
        </p:nvGrpSpPr>
        <p:grpSpPr>
          <a:xfrm>
            <a:off x="820254" y="2851785"/>
            <a:ext cx="2304415" cy="2896235"/>
            <a:chOff x="820254" y="2851785"/>
            <a:chExt cx="2304415" cy="2896235"/>
          </a:xfrm>
        </p:grpSpPr>
        <p:pic>
          <p:nvPicPr>
            <p:cNvPr id="17" name="object 9">
              <a:extLst>
                <a:ext uri="{FF2B5EF4-FFF2-40B4-BE49-F238E27FC236}">
                  <a16:creationId xmlns:a16="http://schemas.microsoft.com/office/drawing/2014/main" id="{81ABA9D5-F028-36B2-E897-4BBC463BD83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254" y="4413885"/>
              <a:ext cx="1181265" cy="1333627"/>
            </a:xfrm>
            <a:prstGeom prst="rect">
              <a:avLst/>
            </a:prstGeom>
          </p:spPr>
        </p:pic>
        <p:pic>
          <p:nvPicPr>
            <p:cNvPr id="18" name="object 10">
              <a:extLst>
                <a:ext uri="{FF2B5EF4-FFF2-40B4-BE49-F238E27FC236}">
                  <a16:creationId xmlns:a16="http://schemas.microsoft.com/office/drawing/2014/main" id="{3870A5F0-1BA5-D719-33E5-63E494CADB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839" y="2851785"/>
              <a:ext cx="2245360" cy="885951"/>
            </a:xfrm>
            <a:prstGeom prst="rect">
              <a:avLst/>
            </a:prstGeom>
          </p:spPr>
        </p:pic>
        <p:pic>
          <p:nvPicPr>
            <p:cNvPr id="19" name="object 11">
              <a:extLst>
                <a:ext uri="{FF2B5EF4-FFF2-40B4-BE49-F238E27FC236}">
                  <a16:creationId xmlns:a16="http://schemas.microsoft.com/office/drawing/2014/main" id="{1E796673-3B39-B6AB-80EE-A74776787A1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254" y="3715753"/>
              <a:ext cx="1417447" cy="68378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BF2FF35-E5A4-7B62-DBD6-BB5F4DA4A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161" y="2399792"/>
            <a:ext cx="5477278" cy="2856755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FA4D942-1E31-CEDF-C61B-84BDCF8AD8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8150"/>
          <a:stretch>
            <a:fillRect/>
          </a:stretch>
        </p:blipFill>
        <p:spPr>
          <a:xfrm>
            <a:off x="3362459" y="4079414"/>
            <a:ext cx="3136398" cy="1542280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F6FF476-FAE0-2DB4-BD38-D19934B8D4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811" y="2351588"/>
            <a:ext cx="261974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C026-2A1B-4AD6-917F-EF75DAD2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F6B8E3-3BE5-ADFF-625B-A67C0E350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noProof="0" dirty="0"/>
              <a:t>Excitation</a:t>
            </a:r>
            <a:r>
              <a:rPr lang="en-US" spc="-75" noProof="0" dirty="0"/>
              <a:t> </a:t>
            </a:r>
            <a:r>
              <a:rPr lang="en-US" spc="-10" noProof="0" dirty="0"/>
              <a:t>system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AC8A3FC-5157-EBD5-A95A-1E3C07D816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2B8CD70-E636-2939-C2F7-1FB0040A8B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1AC77F3C-0882-6790-03A0-7D0DAAD28894}"/>
              </a:ext>
            </a:extLst>
          </p:cNvPr>
          <p:cNvGrpSpPr/>
          <p:nvPr/>
        </p:nvGrpSpPr>
        <p:grpSpPr>
          <a:xfrm>
            <a:off x="9284040" y="30365"/>
            <a:ext cx="2498725" cy="1156589"/>
            <a:chOff x="8975725" y="215011"/>
            <a:chExt cx="2819400" cy="134683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7ADFBE03-55A9-AF7F-2FA0-17B16506382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768E4574-1828-1B91-6EEF-4A32930B2344}"/>
                </a:ext>
              </a:extLst>
            </p:cNvPr>
            <p:cNvSpPr/>
            <p:nvPr/>
          </p:nvSpPr>
          <p:spPr>
            <a:xfrm>
              <a:off x="9296400" y="971791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63A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E3C5BAC2-B8FE-0C4C-4EAA-9A0A1DDF4CA6}"/>
                </a:ext>
              </a:extLst>
            </p:cNvPr>
            <p:cNvSpPr/>
            <p:nvPr/>
          </p:nvSpPr>
          <p:spPr>
            <a:xfrm>
              <a:off x="10879835" y="34491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3" name="object 3">
            <a:extLst>
              <a:ext uri="{FF2B5EF4-FFF2-40B4-BE49-F238E27FC236}">
                <a16:creationId xmlns:a16="http://schemas.microsoft.com/office/drawing/2014/main" id="{26A4D50A-B8BB-C7FE-5251-CA0B8A8397F0}"/>
              </a:ext>
            </a:extLst>
          </p:cNvPr>
          <p:cNvSpPr txBox="1"/>
          <p:nvPr/>
        </p:nvSpPr>
        <p:spPr>
          <a:xfrm>
            <a:off x="903935" y="1004344"/>
            <a:ext cx="10841355" cy="156083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5400" marR="17780">
              <a:lnSpc>
                <a:spcPct val="108200"/>
              </a:lnSpc>
              <a:spcBef>
                <a:spcPts val="155"/>
              </a:spcBef>
            </a:pPr>
            <a:r>
              <a:rPr lang="en-US" sz="2800" spc="-10" noProof="0" dirty="0">
                <a:latin typeface="Cambria Math"/>
                <a:cs typeface="Cambria Math"/>
              </a:rPr>
              <a:t>𝑉</a:t>
            </a:r>
            <a:r>
              <a:rPr lang="en-US" sz="3075" spc="-15" baseline="-16260" noProof="0" dirty="0">
                <a:latin typeface="Cambria Math"/>
                <a:cs typeface="Cambria Math"/>
              </a:rPr>
              <a:t>𝑑</a:t>
            </a:r>
            <a:r>
              <a:rPr lang="en-US" sz="3075" spc="352" baseline="-16260" noProof="0" dirty="0">
                <a:latin typeface="Cambria Math"/>
                <a:cs typeface="Cambria Math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and</a:t>
            </a:r>
            <a:r>
              <a:rPr lang="en-US" sz="2800" spc="-105" noProof="0" dirty="0">
                <a:latin typeface="Calibri"/>
                <a:cs typeface="Calibri"/>
              </a:rPr>
              <a:t> </a:t>
            </a:r>
            <a:r>
              <a:rPr lang="en-US" sz="3200" spc="-710" noProof="0" dirty="0">
                <a:latin typeface="Cambria Math"/>
                <a:cs typeface="Cambria Math"/>
              </a:rPr>
              <a:t>𝑉</a:t>
            </a:r>
            <a:r>
              <a:rPr lang="en-US" sz="3525" spc="89" baseline="-15366" noProof="0" dirty="0">
                <a:latin typeface="Cambria Math"/>
                <a:cs typeface="Cambria Math"/>
              </a:rPr>
              <a:t>𝑞</a:t>
            </a:r>
            <a:r>
              <a:rPr lang="en-US" sz="3525" spc="382" baseline="-15366" noProof="0" dirty="0">
                <a:latin typeface="Cambria Math"/>
                <a:cs typeface="Cambria Math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from</a:t>
            </a:r>
            <a:r>
              <a:rPr lang="en-US" sz="2800" spc="-10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the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spc="-20" noProof="0" dirty="0">
                <a:latin typeface="Calibri"/>
                <a:cs typeface="Calibri"/>
              </a:rPr>
              <a:t>Generator</a:t>
            </a:r>
            <a:r>
              <a:rPr lang="en-US" sz="2800" spc="-10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are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fed</a:t>
            </a:r>
            <a:r>
              <a:rPr lang="en-US" sz="2800" spc="-114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back</a:t>
            </a:r>
            <a:r>
              <a:rPr lang="en-US" sz="2800" spc="-95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to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the</a:t>
            </a:r>
            <a:r>
              <a:rPr lang="en-US" sz="2800" spc="-105" noProof="0" dirty="0">
                <a:latin typeface="Calibri"/>
                <a:cs typeface="Calibri"/>
              </a:rPr>
              <a:t> </a:t>
            </a:r>
            <a:r>
              <a:rPr lang="en-US" sz="2800" spc="-20" noProof="0" dirty="0">
                <a:latin typeface="Calibri"/>
                <a:cs typeface="Calibri"/>
              </a:rPr>
              <a:t>AVR,</a:t>
            </a:r>
            <a:r>
              <a:rPr lang="en-US" sz="2800" spc="-105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which</a:t>
            </a:r>
            <a:r>
              <a:rPr lang="en-US" sz="2800" spc="-100" noProof="0" dirty="0">
                <a:latin typeface="Calibri"/>
                <a:cs typeface="Calibri"/>
              </a:rPr>
              <a:t> </a:t>
            </a:r>
            <a:r>
              <a:rPr lang="en-US" sz="2800" spc="-10" noProof="0" dirty="0">
                <a:latin typeface="Calibri"/>
                <a:cs typeface="Calibri"/>
              </a:rPr>
              <a:t>compares</a:t>
            </a:r>
            <a:r>
              <a:rPr lang="en-US" sz="2800" spc="-90" noProof="0" dirty="0">
                <a:latin typeface="Calibri"/>
                <a:cs typeface="Calibri"/>
              </a:rPr>
              <a:t> </a:t>
            </a:r>
            <a:r>
              <a:rPr lang="en-US" sz="2800" spc="-25" noProof="0" dirty="0">
                <a:latin typeface="Calibri"/>
                <a:cs typeface="Calibri"/>
              </a:rPr>
              <a:t>the </a:t>
            </a:r>
            <a:r>
              <a:rPr lang="en-US" sz="2800" spc="-10" noProof="0" dirty="0">
                <a:latin typeface="Calibri"/>
                <a:cs typeface="Calibri"/>
              </a:rPr>
              <a:t>measured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spc="-10" noProof="0" dirty="0">
                <a:latin typeface="Calibri"/>
                <a:cs typeface="Calibri"/>
              </a:rPr>
              <a:t>voltage</a:t>
            </a:r>
            <a:r>
              <a:rPr lang="en-US" sz="2800" spc="-12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with</a:t>
            </a:r>
            <a:r>
              <a:rPr lang="en-US" sz="2800" spc="-114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mbria Math"/>
                <a:cs typeface="Cambria Math"/>
              </a:rPr>
              <a:t>𝑉</a:t>
            </a:r>
            <a:r>
              <a:rPr lang="en-US" sz="3075" baseline="-16260" noProof="0" dirty="0">
                <a:latin typeface="Cambria Math"/>
                <a:cs typeface="Cambria Math"/>
              </a:rPr>
              <a:t>𝑟𝑒𝑓</a:t>
            </a:r>
            <a:r>
              <a:rPr lang="en-US" sz="3075" spc="315" baseline="-16260" noProof="0" dirty="0">
                <a:latin typeface="Cambria Math"/>
                <a:cs typeface="Cambria Math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and</a:t>
            </a:r>
            <a:r>
              <a:rPr lang="en-US" sz="2800" spc="-12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outputs</a:t>
            </a:r>
            <a:r>
              <a:rPr lang="en-US" sz="2800" spc="-85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the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necessary</a:t>
            </a:r>
            <a:r>
              <a:rPr lang="en-US" sz="2800" spc="-105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Field</a:t>
            </a:r>
            <a:r>
              <a:rPr lang="en-US" sz="2800" spc="-114" noProof="0" dirty="0">
                <a:latin typeface="Calibri"/>
                <a:cs typeface="Calibri"/>
              </a:rPr>
              <a:t> </a:t>
            </a:r>
            <a:r>
              <a:rPr lang="en-US" sz="2800" spc="-10" noProof="0" dirty="0">
                <a:latin typeface="Calibri"/>
                <a:cs typeface="Calibri"/>
              </a:rPr>
              <a:t>Voltage</a:t>
            </a:r>
            <a:endParaRPr lang="en-US" sz="2800" noProof="0" dirty="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840"/>
              </a:spcBef>
            </a:pPr>
            <a:r>
              <a:rPr lang="en-US" sz="2800" noProof="0" dirty="0">
                <a:latin typeface="Calibri"/>
                <a:cs typeface="Calibri"/>
              </a:rPr>
              <a:t>Most</a:t>
            </a:r>
            <a:r>
              <a:rPr lang="en-US" sz="2800" spc="-105" noProof="0" dirty="0">
                <a:latin typeface="Calibri"/>
                <a:cs typeface="Calibri"/>
              </a:rPr>
              <a:t> </a:t>
            </a:r>
            <a:r>
              <a:rPr lang="en-US" sz="2800" spc="-25" noProof="0" dirty="0">
                <a:latin typeface="Calibri"/>
                <a:cs typeface="Calibri"/>
              </a:rPr>
              <a:t>parameters</a:t>
            </a:r>
            <a:r>
              <a:rPr lang="en-US" sz="2800" spc="-114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are</a:t>
            </a:r>
            <a:r>
              <a:rPr lang="en-US" sz="2800" spc="-13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the</a:t>
            </a:r>
            <a:r>
              <a:rPr lang="en-US" sz="2800" spc="-110" noProof="0" dirty="0">
                <a:latin typeface="Calibri"/>
                <a:cs typeface="Calibri"/>
              </a:rPr>
              <a:t> </a:t>
            </a:r>
            <a:r>
              <a:rPr lang="en-US" sz="2800" noProof="0" dirty="0">
                <a:latin typeface="Calibri"/>
                <a:cs typeface="Calibri"/>
              </a:rPr>
              <a:t>model's</a:t>
            </a:r>
            <a:r>
              <a:rPr lang="en-US" sz="2800" spc="-100" noProof="0" dirty="0">
                <a:latin typeface="Calibri"/>
                <a:cs typeface="Calibri"/>
              </a:rPr>
              <a:t> </a:t>
            </a:r>
            <a:r>
              <a:rPr lang="en-US" sz="2800" spc="-10" noProof="0" dirty="0">
                <a:latin typeface="Calibri"/>
                <a:cs typeface="Calibri"/>
              </a:rPr>
              <a:t>default</a:t>
            </a:r>
            <a:r>
              <a:rPr lang="en-US" sz="2800" spc="-100" noProof="0" dirty="0">
                <a:latin typeface="Calibri"/>
                <a:cs typeface="Calibri"/>
              </a:rPr>
              <a:t> </a:t>
            </a:r>
            <a:r>
              <a:rPr lang="en-US" sz="2800" spc="-10" noProof="0" dirty="0">
                <a:latin typeface="Calibri"/>
                <a:cs typeface="Calibri"/>
              </a:rPr>
              <a:t>values.</a:t>
            </a:r>
            <a:endParaRPr lang="en-US" sz="2800" noProof="0" dirty="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AC91307-58F0-17CD-2128-5BFA39EB8AF7}"/>
              </a:ext>
            </a:extLst>
          </p:cNvPr>
          <p:cNvPicPr/>
          <p:nvPr/>
        </p:nvPicPr>
        <p:blipFill>
          <a:blip r:embed="rId3" cstate="print"/>
          <a:srcRect r="44209"/>
          <a:stretch>
            <a:fillRect/>
          </a:stretch>
        </p:blipFill>
        <p:spPr>
          <a:xfrm>
            <a:off x="2209800" y="2728290"/>
            <a:ext cx="4029637" cy="3158490"/>
          </a:xfrm>
          <a:prstGeom prst="rect">
            <a:avLst/>
          </a:prstGeom>
        </p:spPr>
      </p:pic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933CBCCB-38CF-3746-00C0-1BB0F1BBA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609" y="2557535"/>
            <a:ext cx="3392359" cy="32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9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790C-F52E-D5EB-F7C8-F0CF0AA4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F9F1E-46A5-E576-A8EC-B59A577367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noProof="0" dirty="0"/>
              <a:t>Turbine-</a:t>
            </a:r>
            <a:r>
              <a:rPr lang="en-US" noProof="0" dirty="0"/>
              <a:t>governor</a:t>
            </a:r>
            <a:r>
              <a:rPr lang="en-US" spc="-25" noProof="0" dirty="0"/>
              <a:t> </a:t>
            </a:r>
            <a:r>
              <a:rPr lang="en-US" spc="-10" noProof="0" dirty="0"/>
              <a:t>system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F87FCD1-D9E5-0039-96CD-A033984C995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0FE652D-5C30-C4BA-4AE4-2CB8782A03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D5510356-6AA2-F40C-BDC5-ADE61C5DA474}"/>
              </a:ext>
            </a:extLst>
          </p:cNvPr>
          <p:cNvGrpSpPr/>
          <p:nvPr/>
        </p:nvGrpSpPr>
        <p:grpSpPr>
          <a:xfrm>
            <a:off x="9284040" y="30365"/>
            <a:ext cx="2498725" cy="1156589"/>
            <a:chOff x="8975725" y="215011"/>
            <a:chExt cx="2819400" cy="134683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6B5365BE-7B6A-FDBB-CB0B-33E609C439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63CAE587-826A-F746-4F80-594D9E31889D}"/>
                </a:ext>
              </a:extLst>
            </p:cNvPr>
            <p:cNvSpPr/>
            <p:nvPr/>
          </p:nvSpPr>
          <p:spPr>
            <a:xfrm>
              <a:off x="9296400" y="971791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63A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BC722C1B-49CB-DC38-6255-3CDB42996378}"/>
                </a:ext>
              </a:extLst>
            </p:cNvPr>
            <p:cNvSpPr/>
            <p:nvPr/>
          </p:nvSpPr>
          <p:spPr>
            <a:xfrm>
              <a:off x="10879835" y="34491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3" name="object 3">
            <a:extLst>
              <a:ext uri="{FF2B5EF4-FFF2-40B4-BE49-F238E27FC236}">
                <a16:creationId xmlns:a16="http://schemas.microsoft.com/office/drawing/2014/main" id="{FD96CA39-C8E5-C8D0-1DF3-64C0A855FB4F}"/>
              </a:ext>
            </a:extLst>
          </p:cNvPr>
          <p:cNvSpPr txBox="1"/>
          <p:nvPr/>
        </p:nvSpPr>
        <p:spPr>
          <a:xfrm>
            <a:off x="903935" y="1004344"/>
            <a:ext cx="10841355" cy="881652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2800" spc="-10" noProof="0" dirty="0">
                <a:cs typeface="Calibri"/>
              </a:rPr>
              <a:t>Simulation</a:t>
            </a:r>
            <a:r>
              <a:rPr lang="en-US" sz="2800" spc="-80" noProof="0" dirty="0">
                <a:cs typeface="Calibri"/>
              </a:rPr>
              <a:t> </a:t>
            </a:r>
            <a:r>
              <a:rPr lang="en-US" sz="2800" noProof="0" dirty="0">
                <a:cs typeface="Calibri"/>
              </a:rPr>
              <a:t>model</a:t>
            </a:r>
            <a:r>
              <a:rPr lang="en-US" sz="2800" spc="-95" noProof="0" dirty="0">
                <a:cs typeface="Calibri"/>
              </a:rPr>
              <a:t> </a:t>
            </a:r>
            <a:r>
              <a:rPr lang="en-US" sz="2800" noProof="0" dirty="0">
                <a:cs typeface="Calibri"/>
              </a:rPr>
              <a:t>of</a:t>
            </a:r>
            <a:r>
              <a:rPr lang="en-US" sz="2800" spc="-110" noProof="0" dirty="0">
                <a:cs typeface="Calibri"/>
              </a:rPr>
              <a:t> </a:t>
            </a:r>
            <a:r>
              <a:rPr lang="en-US" sz="2800" noProof="0" dirty="0">
                <a:cs typeface="Calibri"/>
              </a:rPr>
              <a:t>the</a:t>
            </a:r>
            <a:r>
              <a:rPr lang="en-US" sz="2800" spc="-100" noProof="0" dirty="0">
                <a:cs typeface="Calibri"/>
              </a:rPr>
              <a:t> </a:t>
            </a:r>
            <a:r>
              <a:rPr lang="en-US" sz="2800" spc="-30" noProof="0" dirty="0">
                <a:cs typeface="Calibri"/>
              </a:rPr>
              <a:t>generators</a:t>
            </a:r>
            <a:r>
              <a:rPr lang="en-US" sz="2800" spc="-95" noProof="0" dirty="0">
                <a:cs typeface="Calibri"/>
              </a:rPr>
              <a:t> </a:t>
            </a:r>
            <a:r>
              <a:rPr lang="en-US" sz="2800" spc="-10" noProof="0" dirty="0">
                <a:cs typeface="Calibri"/>
              </a:rPr>
              <a:t>including</a:t>
            </a:r>
            <a:r>
              <a:rPr lang="en-US" sz="2800" spc="-65" noProof="0" dirty="0">
                <a:cs typeface="Calibri"/>
              </a:rPr>
              <a:t> </a:t>
            </a:r>
            <a:r>
              <a:rPr lang="en-US" sz="2800" spc="-30" noProof="0" dirty="0">
                <a:cs typeface="Calibri"/>
              </a:rPr>
              <a:t>excitation</a:t>
            </a:r>
            <a:r>
              <a:rPr lang="en-US" sz="2800" spc="-85" noProof="0" dirty="0">
                <a:cs typeface="Calibri"/>
              </a:rPr>
              <a:t> </a:t>
            </a:r>
            <a:r>
              <a:rPr lang="en-US" sz="2800" spc="-25" noProof="0" dirty="0">
                <a:cs typeface="Calibri"/>
              </a:rPr>
              <a:t>system</a:t>
            </a:r>
            <a:r>
              <a:rPr lang="en-US" sz="2800" spc="-80" noProof="0" dirty="0">
                <a:cs typeface="Calibri"/>
              </a:rPr>
              <a:t> </a:t>
            </a:r>
            <a:r>
              <a:rPr lang="en-US" sz="2800" noProof="0" dirty="0">
                <a:cs typeface="Calibri"/>
              </a:rPr>
              <a:t>and</a:t>
            </a:r>
            <a:r>
              <a:rPr lang="en-US" sz="2800" spc="-95" noProof="0" dirty="0">
                <a:cs typeface="Calibri"/>
              </a:rPr>
              <a:t> </a:t>
            </a:r>
            <a:r>
              <a:rPr lang="en-US" sz="2800" spc="-10" noProof="0" dirty="0">
                <a:cs typeface="Calibri"/>
              </a:rPr>
              <a:t>turbine governor</a:t>
            </a:r>
            <a:r>
              <a:rPr lang="en-US" sz="2800" spc="-150" noProof="0" dirty="0">
                <a:cs typeface="Calibri"/>
              </a:rPr>
              <a:t> </a:t>
            </a:r>
            <a:r>
              <a:rPr lang="en-US" sz="2800" spc="-10" noProof="0" dirty="0">
                <a:cs typeface="Calibri"/>
              </a:rPr>
              <a:t>system</a:t>
            </a:r>
            <a:endParaRPr lang="en-US" sz="2800" noProof="0" dirty="0">
              <a:cs typeface="Calibri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AD4CB95C-88ED-20A0-BE4B-7CD50EAEDA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503" y="2143493"/>
            <a:ext cx="9819131" cy="37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4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E9957-8164-DB91-1A08-2E8E30A8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39CFDD-0B4D-C819-AEAE-02AB04A67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2080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noProof="0" dirty="0"/>
              <a:t>OXL Exciter for G3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D8046B-37E5-380B-E6B3-E307FE8BD5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DC105F7-3D33-549A-D41E-07C8BA27D1F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51A4C7A7-EE4F-3F98-59BA-DC00709F5D89}"/>
              </a:ext>
            </a:extLst>
          </p:cNvPr>
          <p:cNvGrpSpPr/>
          <p:nvPr/>
        </p:nvGrpSpPr>
        <p:grpSpPr>
          <a:xfrm>
            <a:off x="9284040" y="30365"/>
            <a:ext cx="2498725" cy="1156479"/>
            <a:chOff x="8975725" y="215011"/>
            <a:chExt cx="2819400" cy="1346707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D14D34DA-C765-4282-B7B9-25CFF3B96F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BF7AC991-B752-AF4F-E0B1-2EF1C6A5B799}"/>
                </a:ext>
              </a:extLst>
            </p:cNvPr>
            <p:cNvSpPr/>
            <p:nvPr/>
          </p:nvSpPr>
          <p:spPr>
            <a:xfrm>
              <a:off x="10879835" y="34491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3" name="object 3">
            <a:extLst>
              <a:ext uri="{FF2B5EF4-FFF2-40B4-BE49-F238E27FC236}">
                <a16:creationId xmlns:a16="http://schemas.microsoft.com/office/drawing/2014/main" id="{6489EE0F-AC06-84A6-3D27-34A6C50F4A2E}"/>
              </a:ext>
            </a:extLst>
          </p:cNvPr>
          <p:cNvSpPr txBox="1"/>
          <p:nvPr/>
        </p:nvSpPr>
        <p:spPr>
          <a:xfrm>
            <a:off x="903935" y="1004344"/>
            <a:ext cx="10841355" cy="131253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2800" spc="-10" dirty="0">
                <a:cs typeface="Calibri"/>
              </a:rPr>
              <a:t>Simulation</a:t>
            </a:r>
            <a:r>
              <a:rPr lang="en-US" sz="2800" spc="-8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model</a:t>
            </a:r>
            <a:r>
              <a:rPr lang="en-US" sz="2800" spc="-9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of</a:t>
            </a:r>
            <a:r>
              <a:rPr lang="en-US" sz="2800" spc="-11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the</a:t>
            </a:r>
            <a:r>
              <a:rPr lang="en-US" sz="2800" spc="-100" dirty="0">
                <a:cs typeface="Calibri"/>
              </a:rPr>
              <a:t> </a:t>
            </a:r>
            <a:r>
              <a:rPr lang="en-US" sz="2800" spc="-30" dirty="0">
                <a:cs typeface="Calibri"/>
              </a:rPr>
              <a:t>generators</a:t>
            </a:r>
            <a:r>
              <a:rPr lang="en-US" sz="2800" spc="-95" dirty="0">
                <a:cs typeface="Calibri"/>
              </a:rPr>
              <a:t> </a:t>
            </a:r>
            <a:r>
              <a:rPr lang="en-US" sz="2800" spc="-10" dirty="0">
                <a:cs typeface="Calibri"/>
              </a:rPr>
              <a:t>including</a:t>
            </a:r>
            <a:r>
              <a:rPr lang="en-US" sz="2800" spc="-65" dirty="0">
                <a:cs typeface="Calibri"/>
              </a:rPr>
              <a:t> </a:t>
            </a:r>
            <a:r>
              <a:rPr lang="en-US" sz="2800" spc="-30" dirty="0">
                <a:cs typeface="Calibri"/>
              </a:rPr>
              <a:t>excitation</a:t>
            </a:r>
            <a:r>
              <a:rPr lang="en-US" sz="2800" spc="-85" dirty="0">
                <a:cs typeface="Calibri"/>
              </a:rPr>
              <a:t> </a:t>
            </a:r>
            <a:r>
              <a:rPr lang="en-US" sz="2800" spc="-25" dirty="0">
                <a:cs typeface="Calibri"/>
              </a:rPr>
              <a:t>system</a:t>
            </a:r>
            <a:r>
              <a:rPr lang="en-US" sz="2800" spc="-8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and</a:t>
            </a:r>
            <a:r>
              <a:rPr lang="en-US" sz="2800" spc="-95" dirty="0">
                <a:cs typeface="Calibri"/>
              </a:rPr>
              <a:t> </a:t>
            </a:r>
            <a:r>
              <a:rPr lang="en-US" sz="2800" spc="-10" dirty="0">
                <a:cs typeface="Calibri"/>
              </a:rPr>
              <a:t>turbine governor</a:t>
            </a:r>
            <a:r>
              <a:rPr lang="en-US" sz="2800" spc="-150" dirty="0">
                <a:cs typeface="Calibri"/>
              </a:rPr>
              <a:t> </a:t>
            </a:r>
            <a:r>
              <a:rPr lang="en-US" sz="2800" spc="-10" dirty="0">
                <a:cs typeface="Calibri"/>
              </a:rPr>
              <a:t>system with the over excitation limiter is added to limit the field current.</a:t>
            </a:r>
            <a:endParaRPr lang="en-US" sz="2800" dirty="0">
              <a:cs typeface="Calibri"/>
            </a:endParaRPr>
          </a:p>
        </p:txBody>
      </p:sp>
      <p:pic>
        <p:nvPicPr>
          <p:cNvPr id="7" name="Imagen 6" descr="Imagen que contiene objeto, reloj&#10;&#10;El contenido generado por IA puede ser incorrecto.">
            <a:extLst>
              <a:ext uri="{FF2B5EF4-FFF2-40B4-BE49-F238E27FC236}">
                <a16:creationId xmlns:a16="http://schemas.microsoft.com/office/drawing/2014/main" id="{67F68DB3-E4AB-9BE3-44F8-4E95A2E99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234" y="2160823"/>
            <a:ext cx="8247402" cy="1990203"/>
          </a:xfrm>
          <a:prstGeom prst="rect">
            <a:avLst/>
          </a:prstGeom>
        </p:spPr>
      </p:pic>
      <p:pic>
        <p:nvPicPr>
          <p:cNvPr id="10" name="Imagen 9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5EDBF2BA-AE65-74ED-B094-F7D6B752A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273" y="4153581"/>
            <a:ext cx="6087325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1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76F9-E0E1-8C54-F97B-97E0B0D8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A3C528-F4B9-646F-D3A8-5C83DDA652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670691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noProof="0" dirty="0"/>
              <a:t>Control</a:t>
            </a:r>
            <a:r>
              <a:rPr lang="en-US" spc="-35" noProof="0" dirty="0"/>
              <a:t> </a:t>
            </a:r>
            <a:r>
              <a:rPr lang="en-US" noProof="0" dirty="0"/>
              <a:t>scheme</a:t>
            </a:r>
            <a:r>
              <a:rPr lang="en-US" spc="-45" noProof="0" dirty="0"/>
              <a:t> </a:t>
            </a:r>
            <a:r>
              <a:rPr lang="en-US" noProof="0" dirty="0"/>
              <a:t>for</a:t>
            </a:r>
            <a:r>
              <a:rPr lang="en-US" spc="-30" noProof="0" dirty="0"/>
              <a:t> </a:t>
            </a:r>
            <a:r>
              <a:rPr lang="en-US" noProof="0" dirty="0"/>
              <a:t>the</a:t>
            </a:r>
            <a:r>
              <a:rPr lang="en-US" spc="-15" noProof="0" dirty="0"/>
              <a:t> </a:t>
            </a:r>
            <a:r>
              <a:rPr lang="en-US" spc="-25" noProof="0" dirty="0"/>
              <a:t>SG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68EBC86-E1C8-700C-E5B9-0111854DC06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EE31961-DFBB-449F-0BF1-4B32FDEC052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grpSp>
        <p:nvGrpSpPr>
          <p:cNvPr id="12" name="object 4">
            <a:extLst>
              <a:ext uri="{FF2B5EF4-FFF2-40B4-BE49-F238E27FC236}">
                <a16:creationId xmlns:a16="http://schemas.microsoft.com/office/drawing/2014/main" id="{BBD25909-0515-0ED1-CB73-71B84E0587FE}"/>
              </a:ext>
            </a:extLst>
          </p:cNvPr>
          <p:cNvGrpSpPr/>
          <p:nvPr/>
        </p:nvGrpSpPr>
        <p:grpSpPr>
          <a:xfrm>
            <a:off x="9284040" y="30365"/>
            <a:ext cx="2498725" cy="1156589"/>
            <a:chOff x="8975725" y="215011"/>
            <a:chExt cx="2819400" cy="1346835"/>
          </a:xfrm>
        </p:grpSpPr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7904656B-5336-DE75-D008-744F9C5B140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5725" y="215011"/>
              <a:ext cx="2819400" cy="1346707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3887836C-3D94-D266-D98C-3019DBF83A91}"/>
                </a:ext>
              </a:extLst>
            </p:cNvPr>
            <p:cNvSpPr/>
            <p:nvPr/>
          </p:nvSpPr>
          <p:spPr>
            <a:xfrm>
              <a:off x="9296400" y="971791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63A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F2B6E02B-1E76-C65B-59A0-86C1FDFA2682}"/>
                </a:ext>
              </a:extLst>
            </p:cNvPr>
            <p:cNvSpPr/>
            <p:nvPr/>
          </p:nvSpPr>
          <p:spPr>
            <a:xfrm>
              <a:off x="10879835" y="34491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800" y="0"/>
                  </a:moveTo>
                  <a:lnTo>
                    <a:pt x="0" y="0"/>
                  </a:lnTo>
                  <a:lnTo>
                    <a:pt x="0" y="247408"/>
                  </a:lnTo>
                  <a:lnTo>
                    <a:pt x="304800" y="24740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BBA58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pic>
        <p:nvPicPr>
          <p:cNvPr id="8" name="object 3">
            <a:extLst>
              <a:ext uri="{FF2B5EF4-FFF2-40B4-BE49-F238E27FC236}">
                <a16:creationId xmlns:a16="http://schemas.microsoft.com/office/drawing/2014/main" id="{0DE4B01B-A9D5-3429-9DB3-A763C7EA50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889825"/>
            <a:ext cx="8077200" cy="507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10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1612-6155-CA44-0EEB-368165CD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D6ABE6-8DEC-5A1B-A4C7-0E7756D4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7007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Transformers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CF95C8F-EDB8-5715-2009-D66473CE80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9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6655351-3788-87B7-D8F1-2AE5D78FBFD3}"/>
                  </a:ext>
                </a:extLst>
              </p:cNvPr>
              <p:cNvSpPr txBox="1"/>
              <p:nvPr/>
            </p:nvSpPr>
            <p:spPr>
              <a:xfrm>
                <a:off x="916939" y="794073"/>
                <a:ext cx="7715377" cy="1548886"/>
              </a:xfrm>
              <a:prstGeom prst="rect">
                <a:avLst/>
              </a:prstGeom>
            </p:spPr>
            <p:txBody>
              <a:bodyPr vert="horz" wrap="square" lIns="0" tIns="7683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2800" spc="-10" noProof="0" dirty="0">
                    <a:latin typeface="Carlito"/>
                    <a:cs typeface="Carlito"/>
                  </a:rPr>
                  <a:t>The nominal power for all transformers was determined based on their respective generator or load capacities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</m:ctrlPr>
                      </m:sSubPr>
                      <m:e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𝐿</m:t>
                        </m:r>
                      </m:e>
                      <m:sub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1</m:t>
                        </m:r>
                      </m:sub>
                    </m:sSub>
                    <m:r>
                      <a:rPr lang="en-US" sz="2800" b="0" i="1" spc="-10" noProof="0" smtClean="0">
                        <a:latin typeface="Cambria Math" panose="02040503050406030204" pitchFamily="18" charset="0"/>
                        <a:cs typeface="Carlito"/>
                      </a:rPr>
                      <m:t>=</m:t>
                    </m:r>
                    <m:sSub>
                      <m:sSubPr>
                        <m:ctrlP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</m:ctrlPr>
                      </m:sSubPr>
                      <m:e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𝐿</m:t>
                        </m:r>
                      </m:e>
                      <m:sub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2</m:t>
                        </m:r>
                      </m:sub>
                    </m:sSub>
                    <m:r>
                      <a:rPr lang="en-US" sz="2800" b="0" i="1" spc="-10" noProof="0" smtClean="0">
                        <a:latin typeface="Cambria Math" panose="02040503050406030204" pitchFamily="18" charset="0"/>
                        <a:cs typeface="Carlito"/>
                      </a:rPr>
                      <m:t>=</m:t>
                    </m:r>
                    <m:f>
                      <m:fPr>
                        <m:ctrlP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</m:ctrlPr>
                      </m:fPr>
                      <m:num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𝑋</m:t>
                        </m:r>
                      </m:num>
                      <m:den>
                        <m:r>
                          <a:rPr lang="en-US" sz="2800" b="0" i="1" spc="-10" noProof="0" smtClean="0">
                            <a:latin typeface="Cambria Math" panose="02040503050406030204" pitchFamily="18" charset="0"/>
                            <a:cs typeface="Carlito"/>
                          </a:rPr>
                          <m:t>2</m:t>
                        </m:r>
                      </m:den>
                    </m:f>
                  </m:oMath>
                </a14:m>
                <a:endParaRPr lang="en-US" sz="2800" b="1" spc="-10" noProof="0" dirty="0">
                  <a:latin typeface="Carlito"/>
                  <a:cs typeface="Carlito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6655351-3788-87B7-D8F1-2AE5D78FB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794073"/>
                <a:ext cx="7715377" cy="1548886"/>
              </a:xfrm>
              <a:prstGeom prst="rect">
                <a:avLst/>
              </a:prstGeom>
              <a:blipFill>
                <a:blip r:embed="rId2"/>
                <a:stretch>
                  <a:fillRect l="-2133" t="-1575" b="-78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4">
            <a:extLst>
              <a:ext uri="{FF2B5EF4-FFF2-40B4-BE49-F238E27FC236}">
                <a16:creationId xmlns:a16="http://schemas.microsoft.com/office/drawing/2014/main" id="{BBEBC6BB-B9C5-4190-52B8-96020CF600E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5E2994-CDEA-F94A-0F5D-7C9C2EA0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41" y="176886"/>
            <a:ext cx="3254883" cy="155469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A0F5011-49F3-755E-4F06-BC0D142CE864}"/>
              </a:ext>
            </a:extLst>
          </p:cNvPr>
          <p:cNvSpPr/>
          <p:nvPr/>
        </p:nvSpPr>
        <p:spPr>
          <a:xfrm>
            <a:off x="9095866" y="492287"/>
            <a:ext cx="206375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42AE4F-329E-C6CC-2E4E-C86E11D954FC}"/>
              </a:ext>
            </a:extLst>
          </p:cNvPr>
          <p:cNvSpPr/>
          <p:nvPr/>
        </p:nvSpPr>
        <p:spPr>
          <a:xfrm>
            <a:off x="10407141" y="263687"/>
            <a:ext cx="228600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0DAB4E-D285-2591-00E0-7B7BBAA193F5}"/>
              </a:ext>
            </a:extLst>
          </p:cNvPr>
          <p:cNvSpPr/>
          <p:nvPr/>
        </p:nvSpPr>
        <p:spPr>
          <a:xfrm>
            <a:off x="9416541" y="1101887"/>
            <a:ext cx="206375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38AE066-2A98-BC8D-0708-5E6D6A027B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185" r="42894" b="26970"/>
          <a:stretch>
            <a:fillRect/>
          </a:stretch>
        </p:blipFill>
        <p:spPr>
          <a:xfrm>
            <a:off x="995871" y="2667000"/>
            <a:ext cx="4984883" cy="2505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955712FD-85E4-5C1C-FDAE-B72D064831A0}"/>
              </a:ext>
            </a:extLst>
          </p:cNvPr>
          <p:cNvSpPr/>
          <p:nvPr/>
        </p:nvSpPr>
        <p:spPr>
          <a:xfrm>
            <a:off x="10407141" y="838200"/>
            <a:ext cx="228600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4331965-C120-2ACA-B7AE-BD03C105C196}"/>
              </a:ext>
            </a:extLst>
          </p:cNvPr>
          <p:cNvSpPr/>
          <p:nvPr/>
        </p:nvSpPr>
        <p:spPr>
          <a:xfrm>
            <a:off x="10407141" y="1406687"/>
            <a:ext cx="228600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7680FC1-1D9B-47E3-ECFE-E5FADDD3F876}"/>
              </a:ext>
            </a:extLst>
          </p:cNvPr>
          <p:cNvSpPr/>
          <p:nvPr/>
        </p:nvSpPr>
        <p:spPr>
          <a:xfrm>
            <a:off x="11289282" y="1254287"/>
            <a:ext cx="228600" cy="3048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22DB24-88E7-A109-E9A4-044322866F58}"/>
              </a:ext>
            </a:extLst>
          </p:cNvPr>
          <p:cNvSpPr/>
          <p:nvPr/>
        </p:nvSpPr>
        <p:spPr>
          <a:xfrm>
            <a:off x="4043871" y="3496500"/>
            <a:ext cx="533400" cy="2286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Imagen 9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4953C203-AB6D-D3B4-E9CC-4F9199270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742" y="3593680"/>
            <a:ext cx="4306248" cy="1937040"/>
          </a:xfrm>
          <a:prstGeom prst="rect">
            <a:avLst/>
          </a:prstGeom>
        </p:spPr>
      </p:pic>
      <p:pic>
        <p:nvPicPr>
          <p:cNvPr id="12" name="Imagen 1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66CCF27-30D1-ED81-8AC9-320027311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333" y="2183839"/>
            <a:ext cx="4313965" cy="11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5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D669-F0EA-7A30-2B0C-86B91FB2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9B6ED0-CB8D-8052-7A3A-3576C3545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7007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Lines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BAF63E2-A337-28F6-8C45-DB3DA031C8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10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8756112-578B-FFBF-FF16-F0B5EE3FBDE6}"/>
                  </a:ext>
                </a:extLst>
              </p:cNvPr>
              <p:cNvSpPr txBox="1"/>
              <p:nvPr/>
            </p:nvSpPr>
            <p:spPr>
              <a:xfrm>
                <a:off x="868394" y="792741"/>
                <a:ext cx="7715377" cy="1185581"/>
              </a:xfrm>
              <a:prstGeom prst="rect">
                <a:avLst/>
              </a:prstGeom>
            </p:spPr>
            <p:txBody>
              <a:bodyPr vert="horz" wrap="square" lIns="0" tIns="7683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2400" spc="-10" noProof="0" dirty="0">
                    <a:latin typeface="Carlito"/>
                    <a:cs typeface="Carlito"/>
                  </a:rPr>
                  <a:t>All transmission lines were modeled in a base of 100 MVA. The values were converted to </a:t>
                </a:r>
                <a14:m>
                  <m:oMath xmlns:m="http://schemas.openxmlformats.org/officeDocument/2006/math"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𝛺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/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𝑘𝑚</m:t>
                    </m:r>
                  </m:oMath>
                </a14:m>
                <a:r>
                  <a:rPr lang="en-US" sz="2400" spc="-10" noProof="0" dirty="0">
                    <a:latin typeface="Carlito"/>
                    <a:cs typeface="Carlit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𝐻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/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𝑘𝑚</m:t>
                    </m:r>
                  </m:oMath>
                </a14:m>
                <a:r>
                  <a:rPr lang="en-US" sz="2400" spc="-10" noProof="0" dirty="0">
                    <a:latin typeface="Carlito"/>
                    <a:cs typeface="Carlito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𝐹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/</m:t>
                    </m:r>
                    <m:r>
                      <a:rPr lang="en-US" sz="2400" b="0" i="1" spc="-1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rlito"/>
                      </a:rPr>
                      <m:t>𝑘𝑚</m:t>
                    </m:r>
                  </m:oMath>
                </a14:m>
                <a:r>
                  <a:rPr lang="en-US" sz="2400" spc="-10" noProof="0" dirty="0">
                    <a:latin typeface="Carlito"/>
                    <a:cs typeface="Carlito"/>
                  </a:rPr>
                  <a:t> based on the local base voltage of each line section (400 or 33 kV).</a:t>
                </a: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8756112-578B-FFBF-FF16-F0B5EE3FB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94" y="792741"/>
                <a:ext cx="7715377" cy="1185581"/>
              </a:xfrm>
              <a:prstGeom prst="rect">
                <a:avLst/>
              </a:prstGeom>
              <a:blipFill>
                <a:blip r:embed="rId2"/>
                <a:stretch>
                  <a:fillRect l="-1738" t="-1538" r="-3160" b="-1435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4">
            <a:extLst>
              <a:ext uri="{FF2B5EF4-FFF2-40B4-BE49-F238E27FC236}">
                <a16:creationId xmlns:a16="http://schemas.microsoft.com/office/drawing/2014/main" id="{D614E1F0-B4B1-7E57-93B5-6CA833F2F8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305B38-73FB-4E4C-55A1-ABFB15BBB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41" y="176886"/>
            <a:ext cx="3254883" cy="155469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F75C546-2195-AA66-C3F1-5E8BCA3FD549}"/>
              </a:ext>
            </a:extLst>
          </p:cNvPr>
          <p:cNvSpPr/>
          <p:nvPr/>
        </p:nvSpPr>
        <p:spPr>
          <a:xfrm>
            <a:off x="9389554" y="609600"/>
            <a:ext cx="211646" cy="18314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F9C059B-25E0-76F8-EAD0-01CC7FC3FDCA}"/>
              </a:ext>
            </a:extLst>
          </p:cNvPr>
          <p:cNvSpPr/>
          <p:nvPr/>
        </p:nvSpPr>
        <p:spPr>
          <a:xfrm>
            <a:off x="9677400" y="655059"/>
            <a:ext cx="601348" cy="64034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31B5792-4E41-F648-1973-93102CDCD756}"/>
              </a:ext>
            </a:extLst>
          </p:cNvPr>
          <p:cNvSpPr/>
          <p:nvPr/>
        </p:nvSpPr>
        <p:spPr>
          <a:xfrm>
            <a:off x="10765598" y="1371600"/>
            <a:ext cx="435802" cy="2286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8C46D55F-241F-149A-2AA8-BCAAC68E3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841363"/>
            <a:ext cx="4022320" cy="17087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1197E474-7DC4-27B5-F495-E4CF44899106}"/>
              </a:ext>
            </a:extLst>
          </p:cNvPr>
          <p:cNvSpPr txBox="1"/>
          <p:nvPr/>
        </p:nvSpPr>
        <p:spPr>
          <a:xfrm>
            <a:off x="862964" y="2638932"/>
            <a:ext cx="10970260" cy="81624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lang="en-US" sz="2400" spc="-10" noProof="0" dirty="0">
                <a:latin typeface="Carlito"/>
                <a:cs typeface="Carlito"/>
              </a:rPr>
              <a:t>Due to missing zero-sequence data, the zero-sequence parameters were assumed 3 times the positive-sequence for X and L and 0,6 times for 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70FDE88-170A-55D8-0F1A-58C13C3A7B7C}"/>
                  </a:ext>
                </a:extLst>
              </p:cNvPr>
              <p:cNvSpPr txBox="1"/>
              <p:nvPr/>
            </p:nvSpPr>
            <p:spPr>
              <a:xfrm>
                <a:off x="1178730" y="2099774"/>
                <a:ext cx="10338728" cy="611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  <m:sup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        ;        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𝑝𝑢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    ;    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𝑝𝑢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       ;     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𝑝𝑢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den>
                      </m:f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  ;  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70FDE88-170A-55D8-0F1A-58C13C3A7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730" y="2099774"/>
                <a:ext cx="10338728" cy="611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639F46E-D3EC-1B49-36EF-796D8840F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026" y="3519225"/>
            <a:ext cx="3934374" cy="235300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259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979F-CD49-703E-C0A4-8AC9E9390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1B5026-6F76-A0C5-EADF-BCA927FE0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7007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Shunt capacitors and loads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32E9BB7-BDC8-26F1-7419-621C86579E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BD4685C-8DF5-5FAC-890E-D98735EE9A2C}"/>
              </a:ext>
            </a:extLst>
          </p:cNvPr>
          <p:cNvSpPr txBox="1"/>
          <p:nvPr/>
        </p:nvSpPr>
        <p:spPr>
          <a:xfrm>
            <a:off x="868394" y="792741"/>
            <a:ext cx="7715377" cy="81624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lang="en-US" sz="2400" spc="-10" noProof="0" dirty="0">
                <a:latin typeface="Carlito"/>
                <a:cs typeface="Carlito"/>
              </a:rPr>
              <a:t>All loads and capacitor banks are connected in parallel (shunt) to the respective buses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CE4015-5696-AC1E-DB30-A75B655F2BD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45E6AA-50B5-9220-47B4-E8B8CD68D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41" y="176886"/>
            <a:ext cx="3254883" cy="155469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6A9744A-3A6C-C06D-4379-76D4C6D20526}"/>
              </a:ext>
            </a:extLst>
          </p:cNvPr>
          <p:cNvSpPr/>
          <p:nvPr/>
        </p:nvSpPr>
        <p:spPr>
          <a:xfrm>
            <a:off x="10744200" y="838200"/>
            <a:ext cx="147032" cy="20770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DB80349-1337-FAB7-AEC4-C13C73E32168}"/>
              </a:ext>
            </a:extLst>
          </p:cNvPr>
          <p:cNvSpPr/>
          <p:nvPr/>
        </p:nvSpPr>
        <p:spPr>
          <a:xfrm>
            <a:off x="11582400" y="1371600"/>
            <a:ext cx="250824" cy="2286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3" name="Imagen 12" descr="Tabla&#10;&#10;El contenido generado por IA puede ser incorrecto.">
            <a:extLst>
              <a:ext uri="{FF2B5EF4-FFF2-40B4-BE49-F238E27FC236}">
                <a16:creationId xmlns:a16="http://schemas.microsoft.com/office/drawing/2014/main" id="{B1366E4A-FBDA-A9F2-570B-269752E03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16" y="2806716"/>
            <a:ext cx="4389406" cy="2019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D6B6E145-8E95-580E-DF69-08B7E548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754" y="2506679"/>
            <a:ext cx="4105848" cy="2619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749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C8E6-5A84-C820-9958-92D91102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195102-1900-39E5-70BC-214BBB0647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7007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Shunt capacitors and loads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997F2FF-F82B-218F-0DB1-A7FA4FF0119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B21F8DE-E806-D162-BD49-D60372864B24}"/>
              </a:ext>
            </a:extLst>
          </p:cNvPr>
          <p:cNvSpPr txBox="1"/>
          <p:nvPr/>
        </p:nvSpPr>
        <p:spPr>
          <a:xfrm>
            <a:off x="868394" y="792741"/>
            <a:ext cx="7715377" cy="81624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lang="en-US" sz="2400" spc="-10" noProof="0" dirty="0">
                <a:latin typeface="Carlito"/>
                <a:cs typeface="Carlito"/>
              </a:rPr>
              <a:t>Modeled as pure capacitive elements using the Three-Phase Series RLC Load </a:t>
            </a:r>
            <a:r>
              <a:rPr lang="en-US" sz="2400" spc="-10" noProof="0" dirty="0" err="1">
                <a:latin typeface="Carlito"/>
                <a:cs typeface="Carlito"/>
              </a:rPr>
              <a:t>butsetting</a:t>
            </a:r>
            <a:r>
              <a:rPr lang="en-US" sz="2400" spc="-10" noProof="0" dirty="0">
                <a:latin typeface="Carlito"/>
                <a:cs typeface="Carlito"/>
              </a:rPr>
              <a:t> just the capacitive reactive power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7E7214F-A116-7DF9-DC82-36161CC735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B689CC-7A6C-444C-492D-EBBEDE8D5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41" y="176886"/>
            <a:ext cx="3254883" cy="155469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866D47D-0720-80F2-3709-BB912EF91D6C}"/>
              </a:ext>
            </a:extLst>
          </p:cNvPr>
          <p:cNvSpPr/>
          <p:nvPr/>
        </p:nvSpPr>
        <p:spPr>
          <a:xfrm>
            <a:off x="10673368" y="757320"/>
            <a:ext cx="79884" cy="28858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783C12A-98A3-13CC-A4CC-BB55BBE7C47E}"/>
              </a:ext>
            </a:extLst>
          </p:cNvPr>
          <p:cNvSpPr/>
          <p:nvPr/>
        </p:nvSpPr>
        <p:spPr>
          <a:xfrm>
            <a:off x="10283316" y="220175"/>
            <a:ext cx="79884" cy="155469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0E9BABC-D5B0-605D-16BC-84F77E304C14}"/>
              </a:ext>
            </a:extLst>
          </p:cNvPr>
          <p:cNvSpPr/>
          <p:nvPr/>
        </p:nvSpPr>
        <p:spPr>
          <a:xfrm>
            <a:off x="10666921" y="1268749"/>
            <a:ext cx="86331" cy="31999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D189A7A0-7410-48A2-4189-0C0E83B4D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76120"/>
            <a:ext cx="2783670" cy="19588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50041B9-5986-7E27-3D92-0EBA75A0C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972"/>
          <a:stretch>
            <a:fillRect/>
          </a:stretch>
        </p:blipFill>
        <p:spPr>
          <a:xfrm>
            <a:off x="4708593" y="2274423"/>
            <a:ext cx="2911407" cy="2962275"/>
          </a:xfrm>
          <a:prstGeom prst="rect">
            <a:avLst/>
          </a:prstGeom>
        </p:spPr>
      </p:pic>
      <p:pic>
        <p:nvPicPr>
          <p:cNvPr id="10" name="Imagen 9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616E3E45-D9FB-4088-1EA8-9A1D8CE86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2555688"/>
            <a:ext cx="4153480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4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A9F3-82E4-9C18-C7DE-480765AE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F95950-6511-02FA-1B89-CECBC0C56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7007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45" noProof="0" dirty="0"/>
              <a:t>Overall System</a:t>
            </a:r>
            <a:endParaRPr lang="en-US" spc="-185" noProof="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EFC3EB-10B9-CBB1-9633-36318BA3248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00511E5-2F24-1FFD-092E-F6BE888F89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3901938F-7FED-4682-99F3-4EB25A32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6" y="689932"/>
            <a:ext cx="1191420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8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52F6-F50A-CCE9-D0CD-DCB4AB2F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C38034-A5D0-A54A-19D0-F46872D9B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Disturbance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2B92AB1-2BAF-A8BE-DD17-1CABB59FCBB9}"/>
              </a:ext>
            </a:extLst>
          </p:cNvPr>
          <p:cNvSpPr txBox="1"/>
          <p:nvPr/>
        </p:nvSpPr>
        <p:spPr>
          <a:xfrm>
            <a:off x="974648" y="685800"/>
            <a:ext cx="10455352" cy="121122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N-1 contingency, corresponding to the permanent loss of one of the five parallel lines 6 - 7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996BA7C-FA59-9C6A-5847-A929AD10603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55B8180-ABF0-DC11-60D3-D2EE1373FF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pic>
        <p:nvPicPr>
          <p:cNvPr id="5" name="Imagen 4" descr="Diagrama, Calendario&#10;&#10;El contenido generado por IA puede ser incorrecto.">
            <a:extLst>
              <a:ext uri="{FF2B5EF4-FFF2-40B4-BE49-F238E27FC236}">
                <a16:creationId xmlns:a16="http://schemas.microsoft.com/office/drawing/2014/main" id="{72B16132-4C4F-B8D3-96E3-B9A336E9E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9" y="1897029"/>
            <a:ext cx="6615717" cy="3564187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89109F84-4B3B-4882-E824-F6EC05723006}"/>
              </a:ext>
            </a:extLst>
          </p:cNvPr>
          <p:cNvSpPr txBox="1"/>
          <p:nvPr/>
        </p:nvSpPr>
        <p:spPr>
          <a:xfrm>
            <a:off x="8445423" y="2901027"/>
            <a:ext cx="2980947" cy="94448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Initial state: closed</a:t>
            </a:r>
          </a:p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Open at 10s</a:t>
            </a:r>
          </a:p>
        </p:txBody>
      </p:sp>
    </p:spTree>
    <p:extLst>
      <p:ext uri="{BB962C8B-B14F-4D97-AF65-F5344CB8AC3E}">
        <p14:creationId xmlns:p14="http://schemas.microsoft.com/office/powerpoint/2010/main" val="1041473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5B03-F964-99B0-8D5A-40C8A116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2765C2-0A51-AC50-1BB8-81B195EC4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634982E-3F2B-E13A-7B90-10C495D95E87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1 – Voltages at buses 7, 10 and 11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1084577-CCC3-D571-2B48-E31FCE22F3B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91AFF50-8296-29A1-63DC-393BAC3BB3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6CE361F-D96D-12C7-AE42-12A0F6A680F3}"/>
              </a:ext>
            </a:extLst>
          </p:cNvPr>
          <p:cNvSpPr txBox="1"/>
          <p:nvPr/>
        </p:nvSpPr>
        <p:spPr>
          <a:xfrm>
            <a:off x="5957764" y="1184011"/>
            <a:ext cx="6081835" cy="532004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Following disturbance, the impedance increases and voltage drop across all buses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ULTC initiates tap changes and restored the Bus 11 voltage to near reference value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However, ULTC action reduces the impedance seen from the upstream network, which: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Increases current flow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Causes additional voltage drops at nearby 		buses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As a result, bus voltages at buses 7 and 10 decrease, even though the controlled bus voltage is restored.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endParaRPr lang="en-US" sz="2300" spc="-5" noProof="0" dirty="0">
              <a:latin typeface="Carlito"/>
              <a:cs typeface="Carli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861D9-844D-7EEA-074E-7502D4C8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73" y="1295400"/>
            <a:ext cx="4933991" cy="48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33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/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1 – Responses of G3 variables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8F2B20E-035F-58D0-5A52-1B50D621D4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7287610-626F-44E6-DF1D-F917D1A83049}"/>
              </a:ext>
            </a:extLst>
          </p:cNvPr>
          <p:cNvSpPr txBox="1"/>
          <p:nvPr/>
        </p:nvSpPr>
        <p:spPr>
          <a:xfrm>
            <a:off x="152400" y="1295400"/>
            <a:ext cx="6629399" cy="517128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Following the line outage, reactive power demand increases immediately due to the voltage drop.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During ULTC tap operation, reactive power output continues to increase to maintain voltage regulation.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The generator field current follows the same trend: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Increases sharply after the disturbance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increases gradually as ULTC continues tapping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For load level 1: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		The field current is below its maximum limit</a:t>
            </a:r>
          </a:p>
          <a:p>
            <a:pPr marL="25400" algn="just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		The Over-Excitation (OXL) is not activated</a:t>
            </a:r>
          </a:p>
          <a:p>
            <a:pPr marL="368300" indent="-342900" algn="just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Therefore, the generator’s AVR maintains full voltage control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9DAA86-9A9A-3BA0-ADEE-3ED756E6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311151"/>
            <a:ext cx="5257800" cy="51540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EEEB-648F-F273-3D76-9197FF4F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51D0F8-63CE-96D7-22C2-711983FA5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5903914-D2B6-7875-8384-03BBF3BB6086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54000" algn="l"/>
              </a:tabLst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Load level 1 – Responses of G2 variables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7F8A081-5957-58D3-2885-1D03F310446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pPr marL="38100" marR="0" lvl="0" indent="0" algn="l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0D928B0-1708-D576-E983-8874BCC8BCD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t>Group 5</a:t>
            </a:r>
            <a:endParaRPr kumimoji="0" lang="en-US" sz="1200" b="0" i="0" u="none" strike="noStrike" kern="1200" cap="none" spc="-5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581BF-27BD-B8F0-9A68-78676897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1" y="1287640"/>
            <a:ext cx="5562600" cy="5265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BA853F-3D7D-246F-D3BB-BBEA4495ADA3}"/>
              </a:ext>
            </a:extLst>
          </p:cNvPr>
          <p:cNvSpPr txBox="1"/>
          <p:nvPr/>
        </p:nvSpPr>
        <p:spPr>
          <a:xfrm>
            <a:off x="533401" y="13830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Generator 2 increases its reactive power output and field current in response to the disturbance.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increase supports voltage regulation in its local area.</a:t>
            </a:r>
          </a:p>
        </p:txBody>
      </p:sp>
    </p:spTree>
    <p:extLst>
      <p:ext uri="{BB962C8B-B14F-4D97-AF65-F5344CB8AC3E}">
        <p14:creationId xmlns:p14="http://schemas.microsoft.com/office/powerpoint/2010/main" val="1194066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110B-375F-5FA2-DDEE-922D71D5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EAAAC8-6050-D348-8B41-194E96E0C8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07AB3E-36A6-67BE-185B-49D22071738F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2</a:t>
            </a:r>
            <a:r>
              <a:rPr lang="en-US" sz="3600" spc="-5" dirty="0">
                <a:latin typeface="Carlito"/>
                <a:cs typeface="Carlito"/>
              </a:rPr>
              <a:t>- Responses of G3 </a:t>
            </a:r>
            <a:endParaRPr lang="en-US" sz="3600" spc="-5" noProof="0" dirty="0">
              <a:latin typeface="Carlito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0A663BC-4F76-B943-6685-C1E2CF9B4C5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5E731C-75F0-EAD8-1FAD-851DF5AAF00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F67811-AFF0-C1E0-76B7-7059F7074FE7}"/>
              </a:ext>
            </a:extLst>
          </p:cNvPr>
          <p:cNvSpPr/>
          <p:nvPr/>
        </p:nvSpPr>
        <p:spPr>
          <a:xfrm>
            <a:off x="7467602" y="609600"/>
            <a:ext cx="2408681" cy="588101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B2A825-4A42-DCE7-361B-9E5DFB1B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72678"/>
            <a:ext cx="4876800" cy="4304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ED85AC-BDBE-E549-09E3-445FED36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364" y="4889500"/>
            <a:ext cx="4857161" cy="1588414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DE6B1C84-86FB-3FBC-8D73-F885F3E82E1B}"/>
              </a:ext>
            </a:extLst>
          </p:cNvPr>
          <p:cNvSpPr txBox="1"/>
          <p:nvPr/>
        </p:nvSpPr>
        <p:spPr>
          <a:xfrm>
            <a:off x="0" y="1295400"/>
            <a:ext cx="7315200" cy="486351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After the line outage, the network impedance increases, resulting in a larger voltage drop compared to load level 1.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ULTC transformer acts to restore Bus 11 voltage to its reference value.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During ULTC operation, voltages at buses 7 and 10 decrease further due to changes in the impedance seen from the upstream network.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Bus 11 voltage is restored, it temporarily remains at its reference value.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the generator field current exceeds its thermal limit.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endParaRPr kumimoji="0" lang="en-US" sz="23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01884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F6381-5FBF-0613-22A0-74DB38599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1E52B8-FC41-0B5B-1760-314205A72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6E5337-C5E4-39C1-3673-4D3F27AB0AE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pPr marL="38100" marR="0" lvl="0" indent="0" algn="l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D4E176A-DD52-998F-92F6-069E71B9B34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t>Group 5</a:t>
            </a:r>
            <a:endParaRPr kumimoji="0" lang="en-US" sz="1200" b="0" i="0" u="none" strike="noStrike" kern="1200" cap="none" spc="-5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DBF1D2-7838-A954-8BFE-F10D01146F4C}"/>
              </a:ext>
            </a:extLst>
          </p:cNvPr>
          <p:cNvSpPr/>
          <p:nvPr/>
        </p:nvSpPr>
        <p:spPr>
          <a:xfrm>
            <a:off x="7467602" y="609600"/>
            <a:ext cx="2408681" cy="588101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BBB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941ADE-CD14-1C0D-BAD1-54705B750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2" y="609600"/>
            <a:ext cx="4724398" cy="43041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777B2-F456-60C2-4D6E-1C6310B17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2" y="4889500"/>
            <a:ext cx="4733923" cy="1588414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0A9444CE-C0F2-EC4F-A576-C9ED039A19A0}"/>
              </a:ext>
            </a:extLst>
          </p:cNvPr>
          <p:cNvSpPr txBox="1"/>
          <p:nvPr/>
        </p:nvSpPr>
        <p:spPr>
          <a:xfrm>
            <a:off x="0" y="723495"/>
            <a:ext cx="7636016" cy="562782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the generator field current exceeds its thermal limit.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field current can remain above the limit only for a short time.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the limiter acts and reduces the field current: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3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generator terminal voltage decreases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		Voltages at downstream buses drop simultaneously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further ULTC attempt to restore the reference voltage: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		Increases reactive power demand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3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reduce the generator voltage 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Since the field current is limited, the generator cannot raise its voltage, leading to a further voltage reduction at Bus 11.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endParaRPr kumimoji="0" lang="en-US" sz="23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08894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EC11-78C9-0E3A-F7D7-68B3C71C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8B5C68-0C52-1654-EDF0-7E8CF32F0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92D5B5C-49E0-BAE3-E059-93F123661565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2</a:t>
            </a:r>
            <a:r>
              <a:rPr lang="en-US" sz="3600" spc="-5" dirty="0">
                <a:latin typeface="Carlito"/>
                <a:cs typeface="Carlito"/>
              </a:rPr>
              <a:t>- Responses of G3 </a:t>
            </a:r>
            <a:endParaRPr lang="en-US" sz="3600" spc="-5" noProof="0" dirty="0">
              <a:latin typeface="Carlito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DFAB1E-1358-8A9C-ADED-E2D3BB759A2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BEF398B1-1A4E-C510-9797-CE2426DDF4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F78F633-E961-7C5C-471A-E2FACC702E5E}"/>
              </a:ext>
            </a:extLst>
          </p:cNvPr>
          <p:cNvSpPr txBox="1"/>
          <p:nvPr/>
        </p:nvSpPr>
        <p:spPr>
          <a:xfrm>
            <a:off x="66675" y="1314456"/>
            <a:ext cx="7628813" cy="46121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Before and immediately after the fault, the generator voltage remains stable.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This stability is ensured by an increase in reactive power output and field current.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As loading increases and ULTC continues tapping</a:t>
            </a:r>
            <a:r>
              <a:rPr lang="en-US" sz="2300" spc="-5" dirty="0">
                <a:latin typeface="Carlito"/>
                <a:cs typeface="Carlito"/>
              </a:rPr>
              <a:t>, </a:t>
            </a:r>
            <a:r>
              <a:rPr lang="en-US" sz="2300" spc="-5" noProof="0" dirty="0">
                <a:latin typeface="Carlito"/>
                <a:cs typeface="Carlito"/>
              </a:rPr>
              <a:t>Reactive power and field current rise progressively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When the field current reaches its limit: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The generator loses voltage regulation capability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300" spc="-5" dirty="0">
                <a:latin typeface="Carlito"/>
                <a:cs typeface="Carlito"/>
              </a:rPr>
              <a:t>		</a:t>
            </a:r>
            <a:r>
              <a:rPr lang="en-US" sz="2300" spc="-5" noProof="0" dirty="0">
                <a:latin typeface="Carlito"/>
                <a:cs typeface="Carlito"/>
              </a:rPr>
              <a:t>Terminal voltage begins to decrease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300" spc="-5" noProof="0" dirty="0">
                <a:latin typeface="Carlito"/>
                <a:cs typeface="Carlito"/>
              </a:rPr>
              <a:t>Voltage degradation becomes more severe after ULTC tap actions, which further increase reactive power demand.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F31955-5112-CDE7-05A2-D04C2CAB1DD9}"/>
              </a:ext>
            </a:extLst>
          </p:cNvPr>
          <p:cNvSpPr/>
          <p:nvPr/>
        </p:nvSpPr>
        <p:spPr>
          <a:xfrm>
            <a:off x="9829800" y="609600"/>
            <a:ext cx="2202517" cy="564832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C8617C-615F-6124-AAC9-CE7699D22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13" y="600073"/>
            <a:ext cx="4410787" cy="586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8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CD21-860C-440F-B829-9E0A9914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E100FD-E12D-79DB-55F6-D74AA98DF5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E5C96A0-2213-930A-1836-91F774E6A524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 lvl="0">
              <a:spcBef>
                <a:spcPts val="805"/>
              </a:spcBef>
              <a:tabLst>
                <a:tab pos="254000" algn="l"/>
              </a:tabLst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Load level 2- </a:t>
            </a:r>
            <a:r>
              <a:rPr lang="en-US" sz="3600" spc="-5" dirty="0">
                <a:latin typeface="Carlito"/>
                <a:cs typeface="Carlito"/>
              </a:rPr>
              <a:t>Responses of G2</a:t>
            </a:r>
            <a:endParaRPr kumimoji="0" lang="en-US" sz="36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014C61F-2F74-19CC-75D5-84450B54A7C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pPr marL="38100" marR="0" lvl="0" indent="0" algn="l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78B30DB-D10D-A532-5D74-571EF195B9D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t>Group 5</a:t>
            </a:r>
            <a:endParaRPr kumimoji="0" lang="en-US" sz="1200" b="0" i="0" u="none" strike="noStrike" kern="1200" cap="none" spc="-5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366F64D-C4F6-A0A3-C6CE-355CD4449A66}"/>
              </a:ext>
            </a:extLst>
          </p:cNvPr>
          <p:cNvSpPr txBox="1"/>
          <p:nvPr/>
        </p:nvSpPr>
        <p:spPr>
          <a:xfrm>
            <a:off x="0" y="1206097"/>
            <a:ext cx="7636016" cy="496610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Generator 2 shows an increase in reactive power output and field current following the disturbance.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increase helps maintain voltage stability in its local area.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Generator 2 is electrically distant from Generator 3 and the weak load buses.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Due to transmission reactance and losses: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3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of Generator 2’s reactive power is absorbed by the 		network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3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a limited portion reaches the critical buses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3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Therefore, Generator 2 cannot compensate for the loss of voltage control in Generator 3, even though its reactive power output increases.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C4F696-7C7C-5BD8-986B-4288510A363D}"/>
              </a:ext>
            </a:extLst>
          </p:cNvPr>
          <p:cNvSpPr/>
          <p:nvPr/>
        </p:nvSpPr>
        <p:spPr>
          <a:xfrm>
            <a:off x="9829800" y="609600"/>
            <a:ext cx="2202517" cy="564832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BBB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43E021-F799-E618-BF94-3A862C53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472" y="609600"/>
            <a:ext cx="4396301" cy="58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43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9198-438E-6AA1-E80F-9174FBA7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24EAF4-5804-6F35-BB79-9FFE7D8CF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E7FCB8A-DBE9-480B-1B61-458C43DEB845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3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865A361-0784-11EC-C11C-2D931C61A1C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F76A8A5-2D20-9981-647F-2E04DEF28C9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7B1C3FF-5CB0-6358-90E4-A0A87735F7F5}"/>
              </a:ext>
            </a:extLst>
          </p:cNvPr>
          <p:cNvSpPr txBox="1"/>
          <p:nvPr/>
        </p:nvSpPr>
        <p:spPr>
          <a:xfrm>
            <a:off x="19050" y="1295400"/>
            <a:ext cx="7524750" cy="430951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After the line outage, the network impedance increases significantly, causing a much larger voltage drop than in load levels 1 and 2.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The ULTC transformer attempts to restore Bus 11 voltage to its reference value.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At this high load level: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400" spc="-5" dirty="0">
                <a:latin typeface="Carlito"/>
                <a:cs typeface="Carlito"/>
              </a:rPr>
              <a:t>		</a:t>
            </a:r>
            <a:r>
              <a:rPr lang="en-US" sz="2400" spc="-5" noProof="0" dirty="0">
                <a:latin typeface="Carlito"/>
                <a:cs typeface="Carlito"/>
              </a:rPr>
              <a:t>The generator field current increases sharply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		It exceeds its thermal limit for a sufficient duration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400" spc="-5" noProof="0" dirty="0">
                <a:latin typeface="Carlito"/>
                <a:cs typeface="Carlito"/>
              </a:rPr>
              <a:t>As a result, the Over-Excitation Limiter (OXL) activates and forces the field current to decrease.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4D1882-DE69-F173-548C-94319C9C1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225" y="562744"/>
            <a:ext cx="4676775" cy="4466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C9F28D-7584-48E0-21DC-E991B869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75" y="5004422"/>
            <a:ext cx="4676775" cy="14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22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13CF-A60B-AB6F-5C38-8A791612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FA6B78-12A1-E250-734F-CEF16C62B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AB8ECD-9104-936F-DF7F-7BEC25FD7584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54000" algn="l"/>
              </a:tabLst>
              <a:defRPr/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Load level 3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BD6CAA4-3614-2ED9-EA59-3BBF369DA4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pPr marL="38100" marR="0" lvl="0" indent="0" algn="l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C6472E7-F087-BCFB-F6F4-88DBA8DFC0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t>Group 5</a:t>
            </a:r>
            <a:endParaRPr kumimoji="0" lang="en-US" sz="1200" b="0" i="0" u="none" strike="noStrike" kern="1200" cap="none" spc="-5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6FAEF75-2F73-0940-14EF-CCFF39268B1C}"/>
              </a:ext>
            </a:extLst>
          </p:cNvPr>
          <p:cNvSpPr txBox="1"/>
          <p:nvPr/>
        </p:nvSpPr>
        <p:spPr>
          <a:xfrm>
            <a:off x="19050" y="1295400"/>
            <a:ext cx="7524750" cy="330411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the field current is reduced: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4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generator terminal voltage drops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4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voltage at Bus 11 decreases further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additional ULTC tap change: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4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Increases reactive power demand</a:t>
            </a:r>
          </a:p>
          <a:p>
            <a:pPr marL="25400" marR="0" lvl="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tabLst>
                <a:tab pos="254000" algn="l"/>
              </a:tabLst>
              <a:defRPr/>
            </a:pPr>
            <a:r>
              <a:rPr lang="en-US" sz="2400" spc="-5" dirty="0">
                <a:solidFill>
                  <a:prstClr val="black"/>
                </a:solidFill>
                <a:latin typeface="Carlito"/>
                <a:cs typeface="Carlito"/>
              </a:rPr>
              <a:t>		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reduce the generator voltage 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creates a repeating cycle.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0F6A5-24B5-94EA-5DE3-6548ED06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225" y="562744"/>
            <a:ext cx="4676775" cy="4466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613543-FEED-4E92-7312-69E0CC20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75" y="5004422"/>
            <a:ext cx="4676775" cy="14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23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89CE-A9EA-9119-06E6-32A4AF0C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8A7CD9-FCB2-95DB-299A-4A9509F18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272888-9436-B0BB-4F9F-925226F60150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Load level 3</a:t>
            </a:r>
            <a:r>
              <a:rPr lang="en-US" sz="3600" spc="-5" dirty="0">
                <a:latin typeface="Carlito"/>
                <a:cs typeface="Carlito"/>
              </a:rPr>
              <a:t>- Responses of G3 </a:t>
            </a:r>
            <a:endParaRPr lang="en-US" sz="3600" spc="-5" noProof="0" dirty="0">
              <a:latin typeface="Carlito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8C560DC-D4DD-6698-FEB8-2192E010F7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77E5ABD-34BF-9C51-EB9D-BDC15F61545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4111781-8C03-9CAA-C393-0BA6D283C707}"/>
              </a:ext>
            </a:extLst>
          </p:cNvPr>
          <p:cNvSpPr txBox="1"/>
          <p:nvPr/>
        </p:nvSpPr>
        <p:spPr>
          <a:xfrm>
            <a:off x="698423" y="1343031"/>
            <a:ext cx="6492952" cy="2883482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Generator 3 maintains a stable terminal voltage only until the field current reaches its limit.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Once the field current is limited by the OXL: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		</a:t>
            </a:r>
            <a:r>
              <a:rPr lang="en-US" sz="2200" spc="-5" noProof="0" dirty="0">
                <a:latin typeface="Carlito"/>
                <a:cs typeface="Carlito"/>
              </a:rPr>
              <a:t>The generator loses voltage regulation capability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At this point, any ULTC tap action further reduces the generator voltage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Voltage recovery becomes impossible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E6FCD0-3198-FE1D-F756-BC6C1234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76275"/>
            <a:ext cx="50292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53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2FA2-C285-2AF7-B792-EB8FC368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E31A35-51CF-F8B8-FDE5-87288BC66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1</a:t>
            </a:r>
            <a:endParaRPr lang="en-US" spc="-229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DEF425-1BC2-69A5-38A5-1668B7F79544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 lvl="0">
              <a:spcBef>
                <a:spcPts val="805"/>
              </a:spcBef>
              <a:tabLst>
                <a:tab pos="254000" algn="l"/>
              </a:tabLst>
            </a:pP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Load level 3 -</a:t>
            </a:r>
            <a:r>
              <a:rPr lang="en-US" sz="3600" spc="-5" dirty="0">
                <a:latin typeface="Carlito"/>
                <a:cs typeface="Carlito"/>
              </a:rPr>
              <a:t> Responses of G2</a:t>
            </a:r>
            <a:endParaRPr kumimoji="0" lang="en-US" sz="3600" b="0" i="0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40ACEA6-1339-9013-BA07-F34E0E9876B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pPr marL="38100" marR="0" lvl="0" indent="0" algn="l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05245E-7FF6-DBA1-7F8B-BBA362D4EDF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</a:rPr>
              <a:t>Group 5</a:t>
            </a:r>
            <a:endParaRPr kumimoji="0" lang="en-US" sz="1200" b="0" i="0" u="none" strike="noStrike" kern="1200" cap="none" spc="-5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1294E87-6D58-06DB-0B4F-28FCED6DEAB2}"/>
              </a:ext>
            </a:extLst>
          </p:cNvPr>
          <p:cNvSpPr txBox="1"/>
          <p:nvPr/>
        </p:nvSpPr>
        <p:spPr>
          <a:xfrm>
            <a:off x="304800" y="1343031"/>
            <a:ext cx="7037426" cy="3222036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behavior is similar to load level 2.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Although Generator 2 continues to supply reactive power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is electrically remote from the weak load area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large portion of its reactive power is consumed by network losses</a:t>
            </a:r>
          </a:p>
          <a:p>
            <a:pPr marL="3683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254000" algn="l"/>
              </a:tabLst>
              <a:defRPr/>
            </a:pP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Therefore, reactive power support from Generator 2 cannot compensate for the loss of voltage control in Generator 3.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D659-3117-2709-45BC-3C363BB94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152" y="685800"/>
            <a:ext cx="496879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27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542DE-60F9-D774-9F4D-177E4C3B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4DD27A-7E4A-A703-230E-BFB727021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Perform Simulation Scenario 2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BBD888-DA69-EB96-BC87-40307B28DD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EA8DBD5-38F3-75EB-3956-40C2FCB1105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4CFF279-1255-58A1-A6DF-2E9CE01A2E9C}"/>
                  </a:ext>
                </a:extLst>
              </p:cNvPr>
              <p:cNvSpPr txBox="1"/>
              <p:nvPr/>
            </p:nvSpPr>
            <p:spPr>
              <a:xfrm>
                <a:off x="971678" y="828657"/>
                <a:ext cx="7181722" cy="4504438"/>
              </a:xfrm>
              <a:prstGeom prst="rect">
                <a:avLst/>
              </a:prstGeom>
            </p:spPr>
            <p:txBody>
              <a:bodyPr vert="horz" wrap="square" lIns="0" tIns="102235" rIns="0" bIns="0" rtlCol="0">
                <a:spAutoFit/>
              </a:bodyPr>
              <a:lstStyle/>
              <a:p>
                <a:pPr marL="25400">
                  <a:spcBef>
                    <a:spcPts val="805"/>
                  </a:spcBef>
                  <a:tabLst>
                    <a:tab pos="254000" algn="l"/>
                  </a:tabLst>
                </a:pPr>
                <a:r>
                  <a:rPr lang="en-US" sz="2200" spc="-5" noProof="0" dirty="0">
                    <a:latin typeface="Carlito"/>
                    <a:cs typeface="Carlito"/>
                  </a:rPr>
                  <a:t>The load at Bus 8 was replaced by an equivalent induction motor considering load level 2</a:t>
                </a:r>
              </a:p>
              <a:p>
                <a:endParaRPr lang="en-US" sz="2200" b="1" noProof="0" dirty="0">
                  <a:latin typeface="Carlito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b="1" noProof="0" dirty="0">
                    <a:latin typeface="Carlito"/>
                  </a:rPr>
                  <a:t>Motor Behavior: </a:t>
                </a:r>
                <a:r>
                  <a:rPr lang="en-US" sz="2200" noProof="0" dirty="0">
                    <a:latin typeface="Carlito"/>
                  </a:rPr>
                  <a:t>Motor reaches critical slip </a:t>
                </a:r>
                <a14:m>
                  <m:oMath xmlns:m="http://schemas.openxmlformats.org/officeDocument/2006/math">
                    <m:r>
                      <a:rPr lang="en-US" sz="2000" b="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noProof="0" dirty="0">
                    <a:latin typeface="Carlito"/>
                  </a:rPr>
                  <a:t>  Active power absorption decreases during stall at 18s </a:t>
                </a:r>
                <a14:m>
                  <m:oMath xmlns:m="http://schemas.openxmlformats.org/officeDocument/2006/math">
                    <m:r>
                      <a:rPr lang="en-US" sz="2000" b="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noProof="0" dirty="0">
                    <a:latin typeface="Carlito"/>
                  </a:rPr>
                  <a:t> Reactive power demand surges rapidly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Carlito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b="1" noProof="0" dirty="0">
                    <a:latin typeface="Carlito"/>
                  </a:rPr>
                  <a:t>System Impact: </a:t>
                </a:r>
                <a:r>
                  <a:rPr lang="en-US" sz="2200" noProof="0" dirty="0">
                    <a:latin typeface="Carlito"/>
                  </a:rPr>
                  <a:t>Reactive power surge overwhelms system reserves </a:t>
                </a:r>
                <a14:m>
                  <m:oMath xmlns:m="http://schemas.openxmlformats.org/officeDocument/2006/math">
                    <m:r>
                      <a:rPr lang="en-US" sz="2000" b="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noProof="0" dirty="0">
                    <a:latin typeface="Carlito"/>
                  </a:rPr>
                  <a:t> All bus voltages drop sharply </a:t>
                </a:r>
                <a14:m>
                  <m:oMath xmlns:m="http://schemas.openxmlformats.org/officeDocument/2006/math">
                    <m:r>
                      <a:rPr lang="en-US" sz="2000" b="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  <m:r>
                      <a:rPr lang="es-CO" sz="2000" b="0" i="1" spc="-5" smtClean="0">
                        <a:latin typeface="Cambria Math" panose="02040503050406030204" pitchFamily="18" charset="0"/>
                        <a:cs typeface="Carlito"/>
                      </a:rPr>
                      <m:t> </m:t>
                    </m:r>
                  </m:oMath>
                </a14:m>
                <a:r>
                  <a:rPr lang="en-US" sz="2200" noProof="0" dirty="0">
                    <a:latin typeface="Carlito"/>
                  </a:rPr>
                  <a:t>Decline is non-recoverable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Carlito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b="1" noProof="0" dirty="0">
                    <a:latin typeface="Carlito"/>
                  </a:rPr>
                  <a:t>Final Outcome: </a:t>
                </a:r>
                <a:r>
                  <a:rPr lang="en-US" sz="2200" noProof="0" dirty="0">
                    <a:latin typeface="Carlito"/>
                  </a:rPr>
                  <a:t>Total voltage collapse occurs, no recovery possible</a:t>
                </a: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4CFF279-1255-58A1-A6DF-2E9CE01A2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78" y="828657"/>
                <a:ext cx="7181722" cy="4504438"/>
              </a:xfrm>
              <a:prstGeom prst="rect">
                <a:avLst/>
              </a:prstGeom>
              <a:blipFill>
                <a:blip r:embed="rId2"/>
                <a:stretch>
                  <a:fillRect l="-2375" r="-1018" b="-284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491D0015-4CE2-AFEF-5181-9181862ED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75" r="523" b="33496"/>
          <a:stretch>
            <a:fillRect/>
          </a:stretch>
        </p:blipFill>
        <p:spPr>
          <a:xfrm>
            <a:off x="8632300" y="3455195"/>
            <a:ext cx="3420000" cy="2216769"/>
          </a:xfrm>
          <a:prstGeom prst="rect">
            <a:avLst/>
          </a:prstGeom>
        </p:spPr>
      </p:pic>
      <p:pic>
        <p:nvPicPr>
          <p:cNvPr id="14" name="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5B159B2F-DAA4-E93B-72B4-0AD39288B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38" b="1143"/>
          <a:stretch>
            <a:fillRect/>
          </a:stretch>
        </p:blipFill>
        <p:spPr>
          <a:xfrm>
            <a:off x="8605144" y="103955"/>
            <a:ext cx="3447156" cy="332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43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08CB-A08E-1186-D790-F4632FE9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857549-15FA-DD36-683A-86229DFF0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Conclusions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7A3C806-03E0-E4A7-FEA6-16EB06079B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EED6320-DA80-9FDC-3B5C-10D5EA12EB7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6BAA8DA-BA04-40D7-4453-63AE841BE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189103"/>
              </p:ext>
            </p:extLst>
          </p:nvPr>
        </p:nvGraphicFramePr>
        <p:xfrm>
          <a:off x="1050098" y="1605945"/>
          <a:ext cx="10134600" cy="39735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3314926894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3352711567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3944267588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1180468201"/>
                    </a:ext>
                  </a:extLst>
                </a:gridCol>
              </a:tblGrid>
              <a:tr h="50650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 err="1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Criterio</a:t>
                      </a:r>
                      <a:endParaRPr lang="en-US" sz="2400" b="0" noProof="0" dirty="0">
                        <a:solidFill>
                          <a:schemeClr val="tx1"/>
                        </a:solidFill>
                        <a:effectLst/>
                        <a:latin typeface="Carlito"/>
                      </a:endParaRPr>
                    </a:p>
                  </a:txBody>
                  <a:tcPr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Level 1</a:t>
                      </a:r>
                      <a:endParaRPr lang="en-US" sz="2400" b="0" noProof="0" dirty="0">
                        <a:solidFill>
                          <a:schemeClr val="tx1"/>
                        </a:solidFill>
                        <a:effectLst/>
                        <a:latin typeface="Carlito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Level 2</a:t>
                      </a:r>
                      <a:endParaRPr lang="en-US" sz="2400" b="0" noProof="0" dirty="0">
                        <a:solidFill>
                          <a:schemeClr val="tx1"/>
                        </a:solidFill>
                        <a:effectLst/>
                        <a:latin typeface="Carlito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solidFill>
                            <a:schemeClr val="tx1"/>
                          </a:solidFill>
                          <a:effectLst/>
                          <a:latin typeface="Carlito"/>
                        </a:rPr>
                        <a:t>Level 3</a:t>
                      </a:r>
                      <a:endParaRPr lang="en-US" sz="2400" b="0" noProof="0" dirty="0">
                        <a:solidFill>
                          <a:schemeClr val="tx1"/>
                        </a:solidFill>
                        <a:effectLst/>
                        <a:latin typeface="Carlito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19909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Reactive Reserves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Sufficient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Limited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Insufficient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91349924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ULTC Outcome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Full restoration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Limited by taps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Fails to restore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56678599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G3 OXL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Not activated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Activated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Early activation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39767929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Bus 11 Voltage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Near nominal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Degraded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worst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02736808"/>
                  </a:ext>
                </a:extLst>
              </a:tr>
              <a:tr h="77694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System Stability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✅ Stable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⚠️ Stable (degraded)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❌Stable </a:t>
                      </a: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(with more) stressed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08237392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1" noProof="0" dirty="0">
                          <a:effectLst/>
                          <a:latin typeface="Carlito"/>
                        </a:rPr>
                        <a:t>Equilibrium</a:t>
                      </a:r>
                      <a:endParaRPr lang="en-US" sz="2400" b="0" noProof="0" dirty="0">
                        <a:effectLst/>
                        <a:latin typeface="Carlito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High quality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Lower, non-ideal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noProof="0" dirty="0">
                          <a:effectLst/>
                          <a:latin typeface="Carlito"/>
                        </a:rPr>
                        <a:t>insufficient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70577594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48820F00-3ED8-2789-7EE3-D67F42158EB4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Scenario 1</a:t>
            </a:r>
          </a:p>
        </p:txBody>
      </p:sp>
    </p:spTree>
    <p:extLst>
      <p:ext uri="{BB962C8B-B14F-4D97-AF65-F5344CB8AC3E}">
        <p14:creationId xmlns:p14="http://schemas.microsoft.com/office/powerpoint/2010/main" val="1697356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08C7-28B4-F0DB-4D1E-25BA4E45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CFE030-9CB7-32A9-06DE-E781C19BE8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Conclusions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5E04ED-B0A1-CD0C-54DE-AF546AF1494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28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BE97991-417A-C074-ABB2-ED6BC629923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51E8A54-D13E-54F8-AFE2-06892A0FD0CD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Scenario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C5F922F-0755-CBF3-7B29-A122DA66A74B}"/>
                  </a:ext>
                </a:extLst>
              </p:cNvPr>
              <p:cNvSpPr txBox="1"/>
              <p:nvPr/>
            </p:nvSpPr>
            <p:spPr>
              <a:xfrm>
                <a:off x="974647" y="1383030"/>
                <a:ext cx="10094163" cy="3574312"/>
              </a:xfrm>
              <a:prstGeom prst="rect">
                <a:avLst/>
              </a:prstGeom>
            </p:spPr>
            <p:txBody>
              <a:bodyPr vert="horz" wrap="square" lIns="0" tIns="102235" rIns="0" bIns="0" rtlCol="0">
                <a:spAutoFit/>
              </a:bodyPr>
              <a:lstStyle/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r>
                  <a:rPr lang="en-US" sz="2200" spc="-5" dirty="0">
                    <a:latin typeface="Carlito"/>
                    <a:cs typeface="Carlito"/>
                  </a:rPr>
                  <a:t>System reactive reserves are insufficient to meet the sudden demand</a:t>
                </a: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r>
                  <a:rPr lang="en-US" sz="2200" spc="-5" dirty="0">
                    <a:latin typeface="Carlito"/>
                    <a:cs typeface="Carlito"/>
                  </a:rPr>
                  <a:t>Voltage collapse occurs across all critical buses</a:t>
                </a: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r>
                  <a:rPr lang="en-US" sz="2200" spc="-5" dirty="0">
                    <a:latin typeface="Carlito"/>
                    <a:cs typeface="Carlito"/>
                  </a:rPr>
                  <a:t>No recovery is observed </a:t>
                </a:r>
                <a14:m>
                  <m:oMath xmlns:m="http://schemas.openxmlformats.org/officeDocument/2006/math">
                    <m:r>
                      <a:rPr lang="en-US" sz="240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spc="-5" dirty="0">
                    <a:latin typeface="Carlito"/>
                    <a:cs typeface="Carlito"/>
                  </a:rPr>
                  <a:t> system enters an unstable state</a:t>
                </a: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r>
                  <a:rPr lang="en-US" sz="2200" spc="-5" dirty="0">
                    <a:latin typeface="Carlito"/>
                    <a:cs typeface="Carlito"/>
                  </a:rPr>
                  <a:t>Dynamic motor behavior significantly degrades stability compared to static loads</a:t>
                </a: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endParaRPr lang="en-US" sz="2200" spc="-5" dirty="0">
                  <a:latin typeface="Carlito"/>
                  <a:cs typeface="Carlito"/>
                </a:endParaRP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endParaRPr lang="en-US" sz="2200" spc="-5" dirty="0">
                  <a:latin typeface="Carlito"/>
                  <a:cs typeface="Carlito"/>
                </a:endParaRPr>
              </a:p>
              <a:p>
                <a:pPr marL="25400" algn="ctr">
                  <a:spcBef>
                    <a:spcPts val="805"/>
                  </a:spcBef>
                  <a:tabLst>
                    <a:tab pos="254000" algn="l"/>
                  </a:tabLst>
                </a:pPr>
                <a:r>
                  <a:rPr lang="en-US" sz="2200" spc="-5" dirty="0">
                    <a:latin typeface="Carlito"/>
                    <a:cs typeface="Carlito"/>
                  </a:rPr>
                  <a:t>Stall </a:t>
                </a:r>
                <a14:m>
                  <m:oMath xmlns:m="http://schemas.openxmlformats.org/officeDocument/2006/math">
                    <m:r>
                      <a:rPr lang="en-US" sz="240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spc="-5" dirty="0">
                    <a:latin typeface="Carlito"/>
                    <a:cs typeface="Carlito"/>
                  </a:rPr>
                  <a:t> Q surge </a:t>
                </a:r>
                <a14:m>
                  <m:oMath xmlns:m="http://schemas.openxmlformats.org/officeDocument/2006/math">
                    <m:r>
                      <a:rPr lang="en-US" sz="240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spc="-5" dirty="0">
                    <a:latin typeface="Carlito"/>
                    <a:cs typeface="Carlito"/>
                  </a:rPr>
                  <a:t> Voltage drop </a:t>
                </a:r>
                <a14:m>
                  <m:oMath xmlns:m="http://schemas.openxmlformats.org/officeDocument/2006/math">
                    <m:r>
                      <a:rPr lang="en-US" sz="2400" i="1" spc="-5">
                        <a:latin typeface="Cambria Math" panose="02040503050406030204" pitchFamily="18" charset="0"/>
                        <a:cs typeface="Carlito"/>
                      </a:rPr>
                      <m:t>→</m:t>
                    </m:r>
                  </m:oMath>
                </a14:m>
                <a:r>
                  <a:rPr lang="en-US" sz="2200" spc="-5" dirty="0">
                    <a:latin typeface="Carlito"/>
                    <a:cs typeface="Carlito"/>
                  </a:rPr>
                  <a:t> Collapse</a:t>
                </a:r>
              </a:p>
              <a:p>
                <a:pPr marL="368300" indent="-342900">
                  <a:spcBef>
                    <a:spcPts val="805"/>
                  </a:spcBef>
                  <a:buFont typeface="Arial" panose="020B0604020202020204" pitchFamily="34" charset="0"/>
                  <a:buChar char="•"/>
                  <a:tabLst>
                    <a:tab pos="254000" algn="l"/>
                  </a:tabLst>
                </a:pPr>
                <a:endParaRPr lang="en-US" sz="2200" spc="-5" dirty="0">
                  <a:latin typeface="Carlito"/>
                  <a:cs typeface="Carlito"/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C5F922F-0755-CBF3-7B29-A122DA66A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47" y="1383030"/>
                <a:ext cx="10094163" cy="3574312"/>
              </a:xfrm>
              <a:prstGeom prst="rect">
                <a:avLst/>
              </a:prstGeom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107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306B-925D-8D53-606E-95516A27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1AFD02-2BF5-9781-2292-E94AF2053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Conclusions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78ABB92-2A19-CCAC-5920-BC56EB40068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29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C7100CF-5BC2-97C5-225D-75243675C5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96C5169-E09B-9725-9EEA-E40F16A44945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Overall Project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2450225-E71C-8C34-A646-868E14934AE9}"/>
              </a:ext>
            </a:extLst>
          </p:cNvPr>
          <p:cNvSpPr txBox="1"/>
          <p:nvPr/>
        </p:nvSpPr>
        <p:spPr>
          <a:xfrm>
            <a:off x="974647" y="1383030"/>
            <a:ext cx="10094163" cy="410432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Load </a:t>
            </a:r>
            <a:r>
              <a:rPr lang="en-US" sz="2200" spc="-5" dirty="0">
                <a:latin typeface="Carlito"/>
                <a:cs typeface="Carlito"/>
              </a:rPr>
              <a:t>Level: Load increase leads to increase the reactive demand and reduces the stability margin.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Load types: with static loads System stabilizes via ULTC + generator reserves while for dynamic load interaction the reactive demand exceeds supply and leads to voltage collapse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The voltage collapse depends on the reactive reserves available</a:t>
            </a:r>
            <a:endParaRPr lang="en-US" sz="2200" spc="-5" noProof="0" dirty="0">
              <a:latin typeface="Carlito"/>
              <a:cs typeface="Carlito"/>
            </a:endParaRP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Induction motor dynamics significantly reduce voltage stability margin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Transient reactive demands are more critical than steady-state loading</a:t>
            </a:r>
          </a:p>
          <a:p>
            <a:pPr marL="368300" indent="-3429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noProof="0" dirty="0">
                <a:latin typeface="Carlito"/>
                <a:cs typeface="Carlito"/>
              </a:rPr>
              <a:t>Protection schemes must account for motor stalling as a collapse trigger</a:t>
            </a:r>
          </a:p>
          <a:p>
            <a:pPr marL="25400">
              <a:spcBef>
                <a:spcPts val="805"/>
              </a:spcBef>
              <a:tabLst>
                <a:tab pos="254000" algn="l"/>
              </a:tabLst>
            </a:pPr>
            <a:endParaRPr lang="en-US" sz="2200" spc="-5" noProof="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705179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5FFC-BC75-BABE-4F42-40570255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19122D-F29D-5871-EF2C-23586BAA7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48" y="0"/>
            <a:ext cx="7458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35" noProof="0" dirty="0"/>
              <a:t>Conclusions</a:t>
            </a:r>
            <a:endParaRPr lang="en-US" spc="-229" noProof="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FF09E1E-D59F-CF16-2959-B5F64EE579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noProof="0" smtClean="0"/>
              <a:t>30</a:t>
            </a:fld>
            <a:endParaRPr lang="en-US" noProof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A90C6E9-5BD7-AE9B-EAA0-0DC35ED54FF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680964" y="6465214"/>
            <a:ext cx="82994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en-US" noProof="0" dirty="0"/>
              <a:t>Group 5</a:t>
            </a:r>
            <a:endParaRPr lang="en-US" spc="-5" noProof="0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3D67F46-A2C9-85FB-76E0-465FE10ABA1D}"/>
              </a:ext>
            </a:extLst>
          </p:cNvPr>
          <p:cNvSpPr txBox="1"/>
          <p:nvPr/>
        </p:nvSpPr>
        <p:spPr>
          <a:xfrm>
            <a:off x="974648" y="685800"/>
            <a:ext cx="9531350" cy="65723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5"/>
              </a:spcBef>
              <a:tabLst>
                <a:tab pos="254000" algn="l"/>
              </a:tabLst>
            </a:pPr>
            <a:r>
              <a:rPr lang="en-US" sz="3600" spc="-5" noProof="0" dirty="0">
                <a:latin typeface="Carlito"/>
                <a:cs typeface="Carlito"/>
              </a:rPr>
              <a:t>Overall Project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C651C3C-7CC1-5502-125B-E50CAC74550D}"/>
              </a:ext>
            </a:extLst>
          </p:cNvPr>
          <p:cNvSpPr txBox="1"/>
          <p:nvPr/>
        </p:nvSpPr>
        <p:spPr>
          <a:xfrm>
            <a:off x="974647" y="1383030"/>
            <a:ext cx="10325939" cy="420692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82600" indent="-457200">
              <a:spcBef>
                <a:spcPts val="805"/>
              </a:spcBef>
              <a:buFontTx/>
              <a:buAutoNum type="arabicPeriod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Increased system load raises reactive power demand and reduces the stability margin.</a:t>
            </a:r>
          </a:p>
          <a:p>
            <a:pPr marL="482600" indent="-457200">
              <a:spcBef>
                <a:spcPts val="805"/>
              </a:spcBef>
              <a:buAutoNum type="arabicPeriod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 Load Type Comparison:</a:t>
            </a:r>
          </a:p>
          <a:p>
            <a:pPr marL="939800" lvl="1" indent="-4572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Static loads: System stabilizes via ULTC action + generator reactive reserves.</a:t>
            </a:r>
          </a:p>
          <a:p>
            <a:pPr marL="939800" lvl="1" indent="-457200">
              <a:spcBef>
                <a:spcPts val="805"/>
              </a:spcBef>
              <a:buFont typeface="Arial" panose="020B0604020202020204" pitchFamily="34" charset="0"/>
              <a:buChar char="•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Dynamic loads (induction motors): Transient reactive demand exceeds supply, leading to voltage collapse.</a:t>
            </a:r>
          </a:p>
          <a:p>
            <a:pPr marL="482600" indent="-457200">
              <a:spcBef>
                <a:spcPts val="805"/>
              </a:spcBef>
              <a:buFontTx/>
              <a:buAutoNum type="arabicPeriod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Voltage collapse depends primarily on available reactive power reserves.</a:t>
            </a:r>
          </a:p>
          <a:p>
            <a:pPr marL="482600" indent="-457200">
              <a:spcBef>
                <a:spcPts val="805"/>
              </a:spcBef>
              <a:buFontTx/>
              <a:buAutoNum type="arabicPeriod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Induction motor stalling significantly reduces the system's voltage stability margin.</a:t>
            </a:r>
          </a:p>
          <a:p>
            <a:pPr marL="482600" indent="-457200">
              <a:spcBef>
                <a:spcPts val="805"/>
              </a:spcBef>
              <a:buFontTx/>
              <a:buAutoNum type="arabicPeriod"/>
              <a:tabLst>
                <a:tab pos="254000" algn="l"/>
              </a:tabLst>
            </a:pPr>
            <a:r>
              <a:rPr lang="en-US" sz="2200" spc="-5">
                <a:latin typeface="Carlito"/>
                <a:cs typeface="Carlito"/>
              </a:rPr>
              <a:t>Transient Q demands </a:t>
            </a:r>
            <a:r>
              <a:rPr lang="en-US" sz="2200" spc="-5" dirty="0">
                <a:latin typeface="Carlito"/>
                <a:cs typeface="Carlito"/>
              </a:rPr>
              <a:t>are more critical than steady-state loading for stability.</a:t>
            </a:r>
          </a:p>
          <a:p>
            <a:pPr marL="482600" indent="-457200">
              <a:spcBef>
                <a:spcPts val="805"/>
              </a:spcBef>
              <a:buFontTx/>
              <a:buAutoNum type="arabicPeriod"/>
              <a:tabLst>
                <a:tab pos="254000" algn="l"/>
              </a:tabLst>
            </a:pPr>
            <a:r>
              <a:rPr lang="en-US" sz="2200" spc="-5" dirty="0">
                <a:latin typeface="Carlito"/>
                <a:cs typeface="Carlito"/>
              </a:rPr>
              <a:t>Protection schemes must account for motor stalling as a potential voltage collapse trigger.</a:t>
            </a:r>
            <a:endParaRPr lang="en-US" sz="2200" spc="-5" noProof="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81513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2644</TotalTime>
  <Words>1731</Words>
  <Application>Microsoft Office PowerPoint</Application>
  <PresentationFormat>Widescreen</PresentationFormat>
  <Paragraphs>253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 Math</vt:lpstr>
      <vt:lpstr>Carlito</vt:lpstr>
      <vt:lpstr>Trebuchet MS</vt:lpstr>
      <vt:lpstr>Office Theme</vt:lpstr>
      <vt:lpstr>PowerPoint Presentation</vt:lpstr>
      <vt:lpstr>Considered power system</vt:lpstr>
      <vt:lpstr>Generator 1</vt:lpstr>
      <vt:lpstr>Generators 2 and 3</vt:lpstr>
      <vt:lpstr>Excitation system</vt:lpstr>
      <vt:lpstr>Turbine-governor system</vt:lpstr>
      <vt:lpstr>OXL Exciter for G3</vt:lpstr>
      <vt:lpstr>Control scheme for the SG</vt:lpstr>
      <vt:lpstr>Transformers</vt:lpstr>
      <vt:lpstr>Lines</vt:lpstr>
      <vt:lpstr>Shunt capacitors and loads</vt:lpstr>
      <vt:lpstr>Shunt capacitors and loads</vt:lpstr>
      <vt:lpstr>Overall System</vt:lpstr>
      <vt:lpstr>Perform Simulation Disturbance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1</vt:lpstr>
      <vt:lpstr>Perform Simulation Scenario 2</vt:lpstr>
      <vt:lpstr>Conclusions</vt:lpstr>
      <vt:lpstr>Conclusions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abdelrahman sherif</cp:lastModifiedBy>
  <cp:revision>20</cp:revision>
  <dcterms:created xsi:type="dcterms:W3CDTF">2022-09-09T13:48:53Z</dcterms:created>
  <dcterms:modified xsi:type="dcterms:W3CDTF">2026-01-12T12:55:31Z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2022-09-09T00:00:00Z</vt:filetime>
  </property>
</Properties>
</file>